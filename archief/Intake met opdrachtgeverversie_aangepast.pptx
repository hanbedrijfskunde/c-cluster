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277" r:id="rId5"/>
    <p:sldId id="533" r:id="rId6"/>
    <p:sldId id="553" r:id="rId7"/>
    <p:sldId id="538" r:id="rId8"/>
    <p:sldId id="524" r:id="rId9"/>
    <p:sldId id="534" r:id="rId10"/>
    <p:sldId id="535" r:id="rId11"/>
    <p:sldId id="536" r:id="rId12"/>
    <p:sldId id="537" r:id="rId13"/>
    <p:sldId id="476" r:id="rId14"/>
    <p:sldId id="539" r:id="rId15"/>
    <p:sldId id="540" r:id="rId16"/>
    <p:sldId id="541" r:id="rId17"/>
    <p:sldId id="542" r:id="rId18"/>
    <p:sldId id="543" r:id="rId19"/>
    <p:sldId id="544" r:id="rId20"/>
    <p:sldId id="545" r:id="rId21"/>
    <p:sldId id="462" r:id="rId22"/>
    <p:sldId id="546" r:id="rId23"/>
    <p:sldId id="549" r:id="rId24"/>
    <p:sldId id="550" r:id="rId25"/>
    <p:sldId id="547" r:id="rId26"/>
    <p:sldId id="551" r:id="rId27"/>
    <p:sldId id="552" r:id="rId28"/>
    <p:sldId id="527" r:id="rId29"/>
    <p:sldId id="475" r:id="rId30"/>
    <p:sldId id="468" r:id="rId31"/>
  </p:sldIdLst>
  <p:sldSz cx="12192000" cy="6858000"/>
  <p:notesSz cx="6858000" cy="9144000"/>
  <p:custDataLst>
    <p:tags r:id="rId3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D1D24B8-1F70-82F0-E1C9-8CF4DE9307C5}" name="Joyce Bruil" initials="JB" userId="S::Joyce.Bruil@han.nl::13bc3811-f22a-487c-a6f0-675e10ddea38" providerId="AD"/>
  <p188:author id="{516A67BA-6556-C676-5AFD-3746638ED636}" name="Stephan Plat" initials="SP" userId="S::s.plat@han.nl::93d62888-371c-424b-ad99-78a7e27c0fb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0056"/>
    <a:srgbClr val="8DA4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064641-33C2-41A0-977A-8D2BB1C53C8D}" v="5" dt="2026-09-21T09:41:32.6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4818" autoAdjust="0"/>
  </p:normalViewPr>
  <p:slideViewPr>
    <p:cSldViewPr snapToGrid="0">
      <p:cViewPr varScale="1">
        <p:scale>
          <a:sx n="71" d="100"/>
          <a:sy n="71" d="100"/>
        </p:scale>
        <p:origin x="1138" y="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485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yce Bruil" userId="13bc3811-f22a-487c-a6f0-675e10ddea38" providerId="ADAL" clId="{01185950-6D3B-41AF-AC5D-4A005EF3F284}"/>
    <pc:docChg chg="custSel addSld modSld sldOrd">
      <pc:chgData name="Joyce Bruil" userId="13bc3811-f22a-487c-a6f0-675e10ddea38" providerId="ADAL" clId="{01185950-6D3B-41AF-AC5D-4A005EF3F284}" dt="2026-09-21T09:50:36.150" v="248" actId="20577"/>
      <pc:docMkLst>
        <pc:docMk/>
      </pc:docMkLst>
      <pc:sldChg chg="ord">
        <pc:chgData name="Joyce Bruil" userId="13bc3811-f22a-487c-a6f0-675e10ddea38" providerId="ADAL" clId="{01185950-6D3B-41AF-AC5D-4A005EF3F284}" dt="2026-09-21T09:38:41.392" v="1"/>
        <pc:sldMkLst>
          <pc:docMk/>
          <pc:sldMk cId="2998888969" sldId="538"/>
        </pc:sldMkLst>
      </pc:sldChg>
      <pc:sldChg chg="modNotesTx">
        <pc:chgData name="Joyce Bruil" userId="13bc3811-f22a-487c-a6f0-675e10ddea38" providerId="ADAL" clId="{01185950-6D3B-41AF-AC5D-4A005EF3F284}" dt="2026-09-21T09:50:36.150" v="248" actId="20577"/>
        <pc:sldMkLst>
          <pc:docMk/>
          <pc:sldMk cId="212257334" sldId="546"/>
        </pc:sldMkLst>
      </pc:sldChg>
      <pc:sldChg chg="modSp new mod modNotesTx">
        <pc:chgData name="Joyce Bruil" userId="13bc3811-f22a-487c-a6f0-675e10ddea38" providerId="ADAL" clId="{01185950-6D3B-41AF-AC5D-4A005EF3F284}" dt="2026-09-21T09:43:21.651" v="220" actId="20577"/>
        <pc:sldMkLst>
          <pc:docMk/>
          <pc:sldMk cId="3945034044" sldId="553"/>
        </pc:sldMkLst>
        <pc:spChg chg="mod">
          <ac:chgData name="Joyce Bruil" userId="13bc3811-f22a-487c-a6f0-675e10ddea38" providerId="ADAL" clId="{01185950-6D3B-41AF-AC5D-4A005EF3F284}" dt="2026-09-21T09:39:38.673" v="39" actId="20577"/>
          <ac:spMkLst>
            <pc:docMk/>
            <pc:sldMk cId="3945034044" sldId="553"/>
            <ac:spMk id="2" creationId="{7CF78488-723A-9CE5-D30E-5159FC046CFE}"/>
          </ac:spMkLst>
        </pc:spChg>
        <pc:spChg chg="mod">
          <ac:chgData name="Joyce Bruil" userId="13bc3811-f22a-487c-a6f0-675e10ddea38" providerId="ADAL" clId="{01185950-6D3B-41AF-AC5D-4A005EF3F284}" dt="2026-09-21T09:40:39.359" v="121" actId="5793"/>
          <ac:spMkLst>
            <pc:docMk/>
            <pc:sldMk cId="3945034044" sldId="553"/>
            <ac:spMk id="3" creationId="{3325F3FC-1051-4201-6590-33CCBABC708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E1C74923-1B82-4261-AD1A-8E1960B27E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351E4180-DF09-4385-B36B-26AB426698E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1487-B345-4D7A-8841-CAD3CA824CC5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1903559B-28FA-44F2-AB00-780C2BE737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1479DEB-8B35-4839-8CC8-91D469BD646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0508FD-1E01-438E-8C89-F185A8F61F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77622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56998B-CFF6-4A63-9B5C-F5B37BABDBA6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0FB9B-15DA-4A03-8A0F-FA41BD3B0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463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0FB9B-15DA-4A03-8A0F-FA41BD3B0A7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459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Welke </a:t>
            </a:r>
            <a:r>
              <a:rPr lang="en-NL" dirty="0"/>
              <a:t>5 tot 10 lessen</a:t>
            </a:r>
            <a:r>
              <a:rPr lang="nl-NL" dirty="0"/>
              <a:t> hebben we geleerd? Op whiteboard of flap neer zetten.</a:t>
            </a:r>
          </a:p>
          <a:p>
            <a:r>
              <a:rPr lang="en-NL" dirty="0"/>
              <a:t> 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0FB9B-15DA-4A03-8A0F-FA41BD3B0A7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947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>
              <a:lnSpc>
                <a:spcPts val="1500"/>
              </a:lnSpc>
              <a:buNone/>
            </a:pPr>
            <a:endParaRPr lang="nl-NL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0FB9B-15DA-4A03-8A0F-FA41BD3B0A7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795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0FB9B-15DA-4A03-8A0F-FA41BD3B0A7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754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0FB9B-15DA-4A03-8A0F-FA41BD3B0A7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380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0FB9B-15DA-4A03-8A0F-FA41BD3B0A7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4257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highlight>
                <a:srgbClr val="F5F5F5"/>
              </a:highlight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CD919-6FF4-4976-8F80-02C2CF91EDA5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475348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0FB9B-15DA-4A03-8A0F-FA41BD3B0A7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0098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0FB9B-15DA-4A03-8A0F-FA41BD3B0A7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9069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❌ “Vind je het niet gewoon lastig om te plannen?”</a:t>
            </a:r>
            <a:b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“Wat gaat er goed en wat gaat er minder goed in je planning?”</a:t>
            </a:r>
          </a:p>
          <a:p>
            <a:pPr fontAlgn="t"/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Probleem: stuurt naar een antwoord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0FB9B-15DA-4A03-8A0F-FA41BD3B0A7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9322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❌ “Heb je stress?”</a:t>
            </a:r>
            <a:b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“Waar ervaar je op dit moment spanning of druk?”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Probleem: gesloten + beperkt antwoord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0FB9B-15DA-4A03-8A0F-FA41BD3B0A7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787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0FB9B-15DA-4A03-8A0F-FA41BD3B0A7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4070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0FB9B-15DA-4A03-8A0F-FA41BD3B0A7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157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b="1" dirty="0"/>
              <a:t>10 minuten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CD919-6FF4-4976-8F80-02C2CF91EDA5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512490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N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 die intake al </a:t>
            </a:r>
            <a:r>
              <a:rPr lang="en-NL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heeft</a:t>
            </a:r>
            <a:r>
              <a:rPr lang="en-N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NL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gehad</a:t>
            </a:r>
            <a:endParaRPr lang="en-NL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t"/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Speelt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opdrachtgever </a:t>
            </a:r>
            <a:r>
              <a:rPr lang="nl-NL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 observator</a:t>
            </a:r>
            <a:r>
              <a:rPr lang="en-NL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Brengt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casusinformatie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vult eventueel aan op basis van ervaringen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t"/>
            <a:r>
              <a:rPr lang="en-N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 die intake </a:t>
            </a:r>
            <a:r>
              <a:rPr lang="en-NL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nog</a:t>
            </a:r>
            <a:r>
              <a:rPr lang="en-N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NL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niet</a:t>
            </a:r>
            <a:r>
              <a:rPr lang="en-N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NL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heeft</a:t>
            </a:r>
            <a:r>
              <a:rPr lang="en-N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NL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gehad</a:t>
            </a:r>
            <a:endParaRPr lang="en-NL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t"/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Oefent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het 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gesprek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N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volledig</a:t>
            </a:r>
            <a:r>
              <a:rPr lang="en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0FB9B-15DA-4A03-8A0F-FA41BD3B0A7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5805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0FB9B-15DA-4A03-8A0F-FA41BD3B0A7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8561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0FB9B-15DA-4A03-8A0F-FA41BD3B0A7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4169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b="1" dirty="0"/>
              <a:t>10 minuten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CD919-6FF4-4976-8F80-02C2CF91EDA5}" type="slidenum">
              <a:rPr lang="nl-NL" smtClean="0"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512490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0FB9B-15DA-4A03-8A0F-FA41BD3B0A7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4714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0FB9B-15DA-4A03-8A0F-FA41BD3B0A7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7955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>
              <a:highlight>
                <a:srgbClr val="C6C6C6"/>
              </a:highlight>
            </a:endParaRPr>
          </a:p>
          <a:p>
            <a:r>
              <a:rPr lang="en-US" dirty="0">
                <a:highlight>
                  <a:srgbClr val="FFFFFF"/>
                </a:highlight>
              </a:rPr>
              <a:t>Een </a:t>
            </a:r>
            <a:r>
              <a:rPr lang="en-US" dirty="0" err="1">
                <a:highlight>
                  <a:srgbClr val="FFFFFF"/>
                </a:highlight>
              </a:rPr>
              <a:t>goede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projectopdracht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vormt</a:t>
            </a:r>
            <a:r>
              <a:rPr lang="en-US" dirty="0">
                <a:highlight>
                  <a:srgbClr val="FFFFFF"/>
                </a:highlight>
              </a:rPr>
              <a:t> de basis </a:t>
            </a:r>
            <a:r>
              <a:rPr lang="en-US" dirty="0" err="1">
                <a:highlight>
                  <a:srgbClr val="FFFFFF"/>
                </a:highlight>
              </a:rPr>
              <a:t>voor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een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succesvol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verbetertraject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binnen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een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organisatie</a:t>
            </a:r>
            <a:r>
              <a:rPr lang="en-US" dirty="0">
                <a:highlight>
                  <a:srgbClr val="FFFFFF"/>
                </a:highlight>
              </a:rPr>
              <a:t>. Het </a:t>
            </a:r>
            <a:r>
              <a:rPr lang="en-US" dirty="0" err="1">
                <a:highlight>
                  <a:srgbClr val="FFFFFF"/>
                </a:highlight>
              </a:rPr>
              <a:t>helpt</a:t>
            </a:r>
            <a:r>
              <a:rPr lang="en-US" dirty="0">
                <a:highlight>
                  <a:srgbClr val="FFFFFF"/>
                </a:highlight>
              </a:rPr>
              <a:t> om focus </a:t>
            </a:r>
            <a:r>
              <a:rPr lang="en-US" dirty="0" err="1">
                <a:highlight>
                  <a:srgbClr val="FFFFFF"/>
                </a:highlight>
              </a:rPr>
              <a:t>aan</a:t>
            </a:r>
            <a:r>
              <a:rPr lang="en-US" dirty="0">
                <a:highlight>
                  <a:srgbClr val="FFFFFF"/>
                </a:highlight>
              </a:rPr>
              <a:t> </a:t>
            </a:r>
            <a:r>
              <a:rPr lang="en-US" dirty="0" err="1">
                <a:highlight>
                  <a:srgbClr val="FFFFFF"/>
                </a:highlight>
              </a:rPr>
              <a:t>te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brengen</a:t>
            </a:r>
            <a:r>
              <a:rPr lang="en-US" dirty="0">
                <a:highlight>
                  <a:srgbClr val="FFFFFF"/>
                </a:highlight>
              </a:rPr>
              <a:t>, </a:t>
            </a:r>
            <a:r>
              <a:rPr lang="en-US" dirty="0" err="1">
                <a:highlight>
                  <a:srgbClr val="FFFFFF"/>
                </a:highlight>
              </a:rPr>
              <a:t>verwachtingen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helder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te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krijgen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en</a:t>
            </a:r>
            <a:r>
              <a:rPr lang="en-US" dirty="0">
                <a:highlight>
                  <a:srgbClr val="FFFFFF"/>
                </a:highlight>
              </a:rPr>
              <a:t> de </a:t>
            </a:r>
            <a:r>
              <a:rPr lang="en-US" dirty="0" err="1">
                <a:highlight>
                  <a:srgbClr val="FFFFFF"/>
                </a:highlight>
              </a:rPr>
              <a:t>juiste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randvoorwaarden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te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creëren</a:t>
            </a:r>
            <a:r>
              <a:rPr lang="en-US" dirty="0">
                <a:highlight>
                  <a:srgbClr val="FFFFFF"/>
                </a:highlight>
              </a:rPr>
              <a:t> om tot </a:t>
            </a:r>
            <a:r>
              <a:rPr lang="en-US" dirty="0" err="1">
                <a:highlight>
                  <a:srgbClr val="FFFFFF"/>
                </a:highlight>
              </a:rPr>
              <a:t>een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gedragen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en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effectieve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oplossing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te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komen</a:t>
            </a:r>
            <a:r>
              <a:rPr lang="en-US" dirty="0">
                <a:highlight>
                  <a:srgbClr val="FFFFFF"/>
                </a:highlight>
              </a:rPr>
              <a:t>. Om </a:t>
            </a:r>
            <a:r>
              <a:rPr lang="en-US" dirty="0" err="1">
                <a:highlight>
                  <a:srgbClr val="FFFFFF"/>
                </a:highlight>
              </a:rPr>
              <a:t>ervoor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te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zorgen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dat</a:t>
            </a:r>
            <a:r>
              <a:rPr lang="en-US" dirty="0">
                <a:highlight>
                  <a:srgbClr val="FFFFFF"/>
                </a:highlight>
              </a:rPr>
              <a:t> de </a:t>
            </a:r>
            <a:r>
              <a:rPr lang="en-US" dirty="0" err="1">
                <a:highlight>
                  <a:srgbClr val="FFFFFF"/>
                </a:highlight>
              </a:rPr>
              <a:t>opdracht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voldoende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richting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geeft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én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ruimte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laat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voor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analyse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en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onderzoek</a:t>
            </a:r>
            <a:r>
              <a:rPr lang="en-US" dirty="0">
                <a:highlight>
                  <a:srgbClr val="FFFFFF"/>
                </a:highlight>
              </a:rPr>
              <a:t>, is het </a:t>
            </a:r>
            <a:r>
              <a:rPr lang="en-US" dirty="0" err="1">
                <a:highlight>
                  <a:srgbClr val="FFFFFF"/>
                </a:highlight>
              </a:rPr>
              <a:t>belangrijk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dat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deze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aan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een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aantal</a:t>
            </a:r>
            <a:r>
              <a:rPr lang="en-US" dirty="0">
                <a:highlight>
                  <a:srgbClr val="FFFFFF"/>
                </a:highlight>
              </a:rPr>
              <a:t> criteria </a:t>
            </a:r>
            <a:r>
              <a:rPr lang="en-US" dirty="0" err="1">
                <a:highlight>
                  <a:srgbClr val="FFFFFF"/>
                </a:highlight>
              </a:rPr>
              <a:t>voldoet</a:t>
            </a:r>
            <a:r>
              <a:rPr lang="en-US" dirty="0">
                <a:highlight>
                  <a:srgbClr val="FFFFFF"/>
                </a:highlight>
              </a:rPr>
              <a:t>. </a:t>
            </a:r>
            <a:r>
              <a:rPr lang="en-US" dirty="0" err="1">
                <a:highlight>
                  <a:srgbClr val="FFFFFF"/>
                </a:highlight>
              </a:rPr>
              <a:t>Hieronder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worden</a:t>
            </a:r>
            <a:r>
              <a:rPr lang="en-US" dirty="0">
                <a:highlight>
                  <a:srgbClr val="FFFFFF"/>
                </a:highlight>
              </a:rPr>
              <a:t> de </a:t>
            </a:r>
            <a:r>
              <a:rPr lang="en-US" dirty="0" err="1">
                <a:highlight>
                  <a:srgbClr val="FFFFFF"/>
                </a:highlight>
              </a:rPr>
              <a:t>belangrijkste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voorwaarden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toegelicht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waaraan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een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projectopdracht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moet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voldoen</a:t>
            </a:r>
            <a:r>
              <a:rPr lang="en-US" dirty="0">
                <a:highlight>
                  <a:srgbClr val="FFFFFF"/>
                </a:highlight>
              </a:rPr>
              <a:t> om </a:t>
            </a:r>
            <a:r>
              <a:rPr lang="en-US" dirty="0" err="1">
                <a:highlight>
                  <a:srgbClr val="FFFFFF"/>
                </a:highlight>
              </a:rPr>
              <a:t>goedgekeurd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te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worden</a:t>
            </a:r>
            <a:r>
              <a:rPr lang="en-US" dirty="0">
                <a:highlight>
                  <a:srgbClr val="FFFFFF"/>
                </a:highlight>
              </a:rPr>
              <a:t>. </a:t>
            </a:r>
            <a:r>
              <a:rPr lang="en-US" dirty="0" err="1">
                <a:highlight>
                  <a:srgbClr val="FFFFFF"/>
                </a:highlight>
              </a:rPr>
              <a:t>Vul</a:t>
            </a:r>
            <a:r>
              <a:rPr lang="en-US" dirty="0">
                <a:highlight>
                  <a:srgbClr val="FFFFFF"/>
                </a:highlight>
              </a:rPr>
              <a:t> het format ‘</a:t>
            </a:r>
            <a:r>
              <a:rPr lang="en-US" dirty="0" err="1">
                <a:highlight>
                  <a:srgbClr val="FFFFFF"/>
                </a:highlight>
              </a:rPr>
              <a:t>goedkeuring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projectopdracht’in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en</a:t>
            </a:r>
            <a:r>
              <a:rPr lang="en-US" dirty="0">
                <a:highlight>
                  <a:srgbClr val="FFFFFF"/>
                </a:highlight>
              </a:rPr>
              <a:t> leg </a:t>
            </a:r>
            <a:r>
              <a:rPr lang="en-US" dirty="0" err="1">
                <a:highlight>
                  <a:srgbClr val="FFFFFF"/>
                </a:highlight>
              </a:rPr>
              <a:t>deze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z.s.m</a:t>
            </a:r>
            <a:r>
              <a:rPr lang="en-US" dirty="0">
                <a:highlight>
                  <a:srgbClr val="FFFFFF"/>
                </a:highlight>
              </a:rPr>
              <a:t>. </a:t>
            </a:r>
            <a:r>
              <a:rPr lang="en-US" dirty="0" err="1">
                <a:highlight>
                  <a:srgbClr val="FFFFFF"/>
                </a:highlight>
              </a:rPr>
              <a:t>voor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aan</a:t>
            </a:r>
            <a:r>
              <a:rPr lang="en-US" dirty="0">
                <a:highlight>
                  <a:srgbClr val="FFFFFF"/>
                </a:highlight>
              </a:rPr>
              <a:t> je </a:t>
            </a:r>
            <a:r>
              <a:rPr lang="en-US" dirty="0" err="1">
                <a:highlight>
                  <a:srgbClr val="FFFFFF"/>
                </a:highlight>
              </a:rPr>
              <a:t>tutoren</a:t>
            </a:r>
            <a:r>
              <a:rPr lang="en-US" dirty="0">
                <a:highlight>
                  <a:srgbClr val="FFFFFF"/>
                </a:highlight>
              </a:rPr>
              <a:t>. Het </a:t>
            </a:r>
            <a:r>
              <a:rPr lang="en-US" dirty="0" err="1">
                <a:highlight>
                  <a:srgbClr val="FFFFFF"/>
                </a:highlight>
              </a:rPr>
              <a:t>liefst</a:t>
            </a:r>
            <a:r>
              <a:rPr lang="en-US" dirty="0">
                <a:highlight>
                  <a:srgbClr val="FFFFFF"/>
                </a:highlight>
              </a:rPr>
              <a:t> zo </a:t>
            </a:r>
            <a:r>
              <a:rPr lang="en-US" dirty="0" err="1">
                <a:highlight>
                  <a:srgbClr val="FFFFFF"/>
                </a:highlight>
              </a:rPr>
              <a:t>snel</a:t>
            </a:r>
            <a:r>
              <a:rPr lang="en-US" dirty="0">
                <a:highlight>
                  <a:srgbClr val="FFFFFF"/>
                </a:highlight>
              </a:rPr>
              <a:t> </a:t>
            </a:r>
            <a:r>
              <a:rPr lang="en-US" dirty="0" err="1">
                <a:highlight>
                  <a:srgbClr val="FFFFFF"/>
                </a:highlight>
              </a:rPr>
              <a:t>mogelijk</a:t>
            </a:r>
            <a:r>
              <a:rPr lang="en-US" dirty="0">
                <a:highlight>
                  <a:srgbClr val="FFFFFF"/>
                </a:highlight>
              </a:rPr>
              <a:t>, </a:t>
            </a:r>
            <a:r>
              <a:rPr lang="en-US" dirty="0" err="1">
                <a:highlight>
                  <a:srgbClr val="FFFFFF"/>
                </a:highlight>
              </a:rPr>
              <a:t>uiterlijk</a:t>
            </a:r>
            <a:r>
              <a:rPr lang="en-US" dirty="0">
                <a:highlight>
                  <a:srgbClr val="FFFFFF"/>
                </a:highlight>
              </a:rPr>
              <a:t> in week 4.</a:t>
            </a:r>
            <a:endParaRPr lang="nl-NL" dirty="0">
              <a:highlight>
                <a:srgbClr val="C6C6C6"/>
              </a:highlight>
            </a:endParaRPr>
          </a:p>
          <a:p>
            <a:endParaRPr lang="nl-NL" b="1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CD919-6FF4-4976-8F80-02C2CF91EDA5}" type="slidenum">
              <a:rPr lang="nl-NL" smtClean="0"/>
              <a:t>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46688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b="1" dirty="0"/>
              <a:t>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CD919-6FF4-4976-8F80-02C2CF91EDA5}" type="slidenum">
              <a:rPr lang="nl-NL" smtClean="0"/>
              <a:t>27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92677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Afbeelding 4">
            <a:extLst>
              <a:ext uri="{FF2B5EF4-FFF2-40B4-BE49-F238E27FC236}">
                <a16:creationId xmlns:a16="http://schemas.microsoft.com/office/drawing/2014/main" id="{3E43DDCB-339E-4C3A-9E9E-C22943510D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1875" y="1624876"/>
            <a:ext cx="5330383" cy="2545109"/>
          </a:xfrm>
          <a:prstGeom prst="rect">
            <a:avLst/>
          </a:prstGeom>
        </p:spPr>
      </p:pic>
      <p:sp>
        <p:nvSpPr>
          <p:cNvPr id="27" name="Tijdelijke aanduiding voor tekst 26">
            <a:extLst>
              <a:ext uri="{FF2B5EF4-FFF2-40B4-BE49-F238E27FC236}">
                <a16:creationId xmlns:a16="http://schemas.microsoft.com/office/drawing/2014/main" id="{62D72DF6-455F-49BB-BA77-CFB0EF8243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3234" y="1884364"/>
            <a:ext cx="10452100" cy="3089275"/>
          </a:xfrm>
        </p:spPr>
        <p:txBody>
          <a:bodyPr>
            <a:normAutofit/>
          </a:bodyPr>
          <a:lstStyle>
            <a:lvl1pPr marL="0" indent="0">
              <a:buNone/>
              <a:defRPr lang="en-GB" sz="6750" b="1" i="0" u="none" strike="noStrike" cap="none" spc="0" baseline="0" dirty="0">
                <a:ln>
                  <a:noFill/>
                </a:ln>
                <a:solidFill>
                  <a:srgbClr val="000000"/>
                </a:solidFill>
                <a:uFillTx/>
                <a:latin typeface="Avenir Next Condensed"/>
                <a:ea typeface="Avenir Next Condensed"/>
                <a:cs typeface="Avenir Next Condensed"/>
                <a:sym typeface="Helvetica Neue Medium"/>
              </a:defRPr>
            </a:lvl1pPr>
          </a:lstStyle>
          <a:p>
            <a:pPr lvl="0"/>
            <a:r>
              <a:rPr lang="nl-NL" sz="6750" dirty="0">
                <a:latin typeface="Avenir Next Condensed"/>
              </a:rPr>
              <a:t>VOORBEELD VAN EEN TITEL_</a:t>
            </a:r>
            <a:endParaRPr lang="en-GB" dirty="0"/>
          </a:p>
        </p:txBody>
      </p:sp>
      <p:sp>
        <p:nvSpPr>
          <p:cNvPr id="29" name="Tijdelijke aanduiding voor tekst 28">
            <a:extLst>
              <a:ext uri="{FF2B5EF4-FFF2-40B4-BE49-F238E27FC236}">
                <a16:creationId xmlns:a16="http://schemas.microsoft.com/office/drawing/2014/main" id="{FDED8E11-341A-45D2-85B1-F7C4DB5323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3234" y="5095875"/>
            <a:ext cx="10452100" cy="1009650"/>
          </a:xfrm>
        </p:spPr>
        <p:txBody>
          <a:bodyPr>
            <a:normAutofit/>
          </a:bodyPr>
          <a:lstStyle>
            <a:lvl1pPr marL="0" indent="0">
              <a:buNone/>
              <a:defRPr lang="en-GB" sz="3300" b="0" i="0" u="none" strike="noStrike" cap="none" spc="0" baseline="0" dirty="0">
                <a:ln>
                  <a:noFill/>
                </a:ln>
                <a:solidFill>
                  <a:srgbClr val="000000"/>
                </a:solidFill>
                <a:uFillTx/>
                <a:latin typeface="Avenir Next Condensed"/>
                <a:ea typeface="Avenir Next Condensed Medium"/>
                <a:cs typeface="Avenir Next Condensed Medium"/>
                <a:sym typeface="Avenir Next Condensed Medium"/>
              </a:defRPr>
            </a:lvl1pPr>
          </a:lstStyle>
          <a:p>
            <a:pPr lvl="0"/>
            <a:r>
              <a:rPr lang="nl-NL" dirty="0"/>
              <a:t>VOORBEELD VAN EEN ONDERTITEL</a:t>
            </a:r>
            <a:endParaRPr lang="en-GB" dirty="0"/>
          </a:p>
        </p:txBody>
      </p:sp>
      <p:sp>
        <p:nvSpPr>
          <p:cNvPr id="34" name="Tijdelijke aanduiding voor tekst 33">
            <a:extLst>
              <a:ext uri="{FF2B5EF4-FFF2-40B4-BE49-F238E27FC236}">
                <a16:creationId xmlns:a16="http://schemas.microsoft.com/office/drawing/2014/main" id="{D9C3A310-643B-4139-9F62-77D0667471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3233" y="1196298"/>
            <a:ext cx="10458803" cy="588915"/>
          </a:xfrm>
        </p:spPr>
        <p:txBody>
          <a:bodyPr anchor="b">
            <a:noAutofit/>
          </a:bodyPr>
          <a:lstStyle>
            <a:lvl1pPr marL="0" indent="0">
              <a:buNone/>
              <a:defRPr lang="nl-NL" sz="2461" b="0" kern="1200" dirty="0" smtClean="0">
                <a:solidFill>
                  <a:srgbClr val="FF005D"/>
                </a:solidFill>
                <a:latin typeface="Avenir Next Condensed"/>
                <a:ea typeface="Avenir Next Condensed Demi Bold"/>
                <a:cs typeface="Avenir Next Condensed Demi Bold"/>
                <a:sym typeface="Avenir Next Condensed Demi Bold"/>
              </a:defRPr>
            </a:lvl1pPr>
          </a:lstStyle>
          <a:p>
            <a:pPr lvl="0"/>
            <a:r>
              <a:rPr lang="nl-NL" dirty="0"/>
              <a:t>NAAM OPLEIDING/FACULTEIT</a:t>
            </a:r>
          </a:p>
        </p:txBody>
      </p:sp>
    </p:spTree>
    <p:extLst>
      <p:ext uri="{BB962C8B-B14F-4D97-AF65-F5344CB8AC3E}">
        <p14:creationId xmlns:p14="http://schemas.microsoft.com/office/powerpoint/2010/main" val="2819816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BE6917-89F7-48C5-A271-631CE8C0D5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>
            <a:normAutofit/>
          </a:bodyPr>
          <a:lstStyle>
            <a:lvl1pPr>
              <a:defRPr lang="en-GB" sz="3200" b="0" kern="1200" dirty="0" smtClean="0">
                <a:solidFill>
                  <a:srgbClr val="FF005D"/>
                </a:solidFill>
                <a:latin typeface="Avenir Next Condensed"/>
                <a:ea typeface="Avenir Next Condensed"/>
                <a:cs typeface="Arial" panose="020B0604020202020204" pitchFamily="34" charset="0"/>
                <a:sym typeface="Avenir Next Condensed Demi Bold"/>
              </a:defRPr>
            </a:lvl1pPr>
          </a:lstStyle>
          <a:p>
            <a:pPr marL="0" lvl="0" indent="0" algn="l" defTabSz="685783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nl-NL" dirty="0"/>
              <a:t>VOORBEELD VAN EEN ONDERWERP</a:t>
            </a:r>
            <a:endParaRPr lang="en-GB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F4D8162-1AA2-4B35-BEA6-C78FDA7F8A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>
            <a:lvl1pPr marL="0" indent="0">
              <a:buNone/>
              <a:defRPr sz="1700"/>
            </a:lvl1pPr>
          </a:lstStyle>
          <a:p>
            <a:pPr lvl="0"/>
            <a:r>
              <a:rPr lang="nl-NL" sz="1700" dirty="0"/>
              <a:t>Voorbeeldtekst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6481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BE6917-89F7-48C5-A271-631CE8C0D5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>
            <a:normAutofit/>
          </a:bodyPr>
          <a:lstStyle>
            <a:lvl1pPr>
              <a:defRPr lang="en-GB" sz="3200" b="0" kern="1200" dirty="0" smtClean="0">
                <a:solidFill>
                  <a:srgbClr val="FF005D"/>
                </a:solidFill>
                <a:latin typeface="Avenir Next Condensed"/>
                <a:ea typeface="Avenir Next Condensed"/>
                <a:cs typeface="Arial" panose="020B0604020202020204" pitchFamily="34" charset="0"/>
                <a:sym typeface="Avenir Next Condensed Demi Bold"/>
              </a:defRPr>
            </a:lvl1pPr>
          </a:lstStyle>
          <a:p>
            <a:pPr marL="0" lvl="0" indent="0" algn="l" defTabSz="685783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nl-NL" dirty="0"/>
              <a:t>VOORBEELD VAN EEN ONDERWERP</a:t>
            </a:r>
            <a:endParaRPr lang="en-GB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F4D8162-1AA2-4B35-BEA6-C78FDA7F8A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4800600" cy="4351338"/>
          </a:xfrm>
        </p:spPr>
        <p:txBody>
          <a:bodyPr>
            <a:normAutofit/>
          </a:bodyPr>
          <a:lstStyle>
            <a:lvl1pPr marL="0" indent="0">
              <a:buNone/>
              <a:defRPr sz="1700"/>
            </a:lvl1pPr>
          </a:lstStyle>
          <a:p>
            <a:pPr lvl="0"/>
            <a:r>
              <a:rPr lang="nl-NL" sz="1700" dirty="0"/>
              <a:t>Voorbeeldtekst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8886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kst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BE6917-89F7-48C5-A271-631CE8C0D5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>
            <a:normAutofit/>
          </a:bodyPr>
          <a:lstStyle>
            <a:lvl1pPr>
              <a:defRPr lang="en-GB" sz="3200" b="0" kern="1200" dirty="0" smtClean="0">
                <a:solidFill>
                  <a:srgbClr val="FF005D"/>
                </a:solidFill>
                <a:latin typeface="Avenir Next Condensed"/>
                <a:ea typeface="Avenir Next Condensed"/>
                <a:cs typeface="Arial" panose="020B0604020202020204" pitchFamily="34" charset="0"/>
                <a:sym typeface="Avenir Next Condensed Demi Bold"/>
              </a:defRPr>
            </a:lvl1pPr>
          </a:lstStyle>
          <a:p>
            <a:pPr marL="0" lvl="0" indent="0" algn="l" defTabSz="685783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nl-NL" dirty="0"/>
              <a:t>VOORBEELD VAN EEN ONDERWERP</a:t>
            </a:r>
            <a:endParaRPr lang="en-GB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F4D8162-1AA2-4B35-BEA6-C78FDA7F8A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4800600" cy="4351338"/>
          </a:xfrm>
        </p:spPr>
        <p:txBody>
          <a:bodyPr>
            <a:normAutofit/>
          </a:bodyPr>
          <a:lstStyle>
            <a:lvl1pPr marL="0" indent="0">
              <a:buNone/>
              <a:defRPr sz="1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nl-NL" sz="1700" dirty="0"/>
              <a:t>Voorbeeldtekst</a:t>
            </a:r>
            <a:endParaRPr lang="en-GB" dirty="0"/>
          </a:p>
        </p:txBody>
      </p:sp>
      <p:sp>
        <p:nvSpPr>
          <p:cNvPr id="6" name="Tijdelijke aanduiding voor afbeelding 5">
            <a:extLst>
              <a:ext uri="{FF2B5EF4-FFF2-40B4-BE49-F238E27FC236}">
                <a16:creationId xmlns:a16="http://schemas.microsoft.com/office/drawing/2014/main" id="{260C8E6A-14DF-4CBC-B795-FDA284EC47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53203" y="1825625"/>
            <a:ext cx="4800600" cy="4351338"/>
          </a:xfrm>
        </p:spPr>
        <p:txBody>
          <a:bodyPr>
            <a:normAutofit/>
          </a:bodyPr>
          <a:lstStyle>
            <a:lvl1pPr>
              <a:defRPr sz="1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2513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bbe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BE6917-89F7-48C5-A271-631CE8C0D5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>
            <a:normAutofit/>
          </a:bodyPr>
          <a:lstStyle>
            <a:lvl1pPr>
              <a:defRPr lang="en-GB" sz="3200" b="0" kern="1200" dirty="0" smtClean="0">
                <a:solidFill>
                  <a:srgbClr val="FF005D"/>
                </a:solidFill>
                <a:latin typeface="Avenir Next Condensed"/>
                <a:ea typeface="Avenir Next Condensed"/>
                <a:cs typeface="Arial" panose="020B0604020202020204" pitchFamily="34" charset="0"/>
                <a:sym typeface="Avenir Next Condensed Demi Bold"/>
              </a:defRPr>
            </a:lvl1pPr>
          </a:lstStyle>
          <a:p>
            <a:pPr marL="0" lvl="0" indent="0" algn="l" defTabSz="685783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nl-NL" dirty="0"/>
              <a:t>VOORBEELD VAN EEN ONDERWERP</a:t>
            </a:r>
            <a:endParaRPr lang="en-GB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F4D8162-1AA2-4B35-BEA6-C78FDA7F8A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2438397"/>
            <a:ext cx="4800600" cy="373856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nl-NL" sz="1700" dirty="0"/>
              <a:t>Voorbeeldtekst</a:t>
            </a:r>
            <a:endParaRPr lang="en-GB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302C1A6C-E298-44F7-B7CD-33C3102FF01B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553200" y="2438395"/>
            <a:ext cx="4800600" cy="373856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nl-NL" sz="1700" dirty="0"/>
              <a:t>Voorbeeldtekst</a:t>
            </a:r>
            <a:endParaRPr lang="en-GB" dirty="0"/>
          </a:p>
        </p:txBody>
      </p:sp>
      <p:sp>
        <p:nvSpPr>
          <p:cNvPr id="9" name="Tijdelijke aanduiding voor tekst 4">
            <a:extLst>
              <a:ext uri="{FF2B5EF4-FFF2-40B4-BE49-F238E27FC236}">
                <a16:creationId xmlns:a16="http://schemas.microsoft.com/office/drawing/2014/main" id="{4B8653B3-70AE-4E3E-9A4D-3EAF4B4F4A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53200" y="1778434"/>
            <a:ext cx="4800600" cy="572219"/>
          </a:xfrm>
        </p:spPr>
        <p:txBody>
          <a:bodyPr anchor="ctr">
            <a:norm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nl-NL" dirty="0"/>
              <a:t>Klik om een tekst toe te voegen</a:t>
            </a:r>
            <a:endParaRPr lang="en-GB" dirty="0"/>
          </a:p>
        </p:txBody>
      </p:sp>
      <p:sp>
        <p:nvSpPr>
          <p:cNvPr id="10" name="Tijdelijke aanduiding voor tekst 4">
            <a:extLst>
              <a:ext uri="{FF2B5EF4-FFF2-40B4-BE49-F238E27FC236}">
                <a16:creationId xmlns:a16="http://schemas.microsoft.com/office/drawing/2014/main" id="{60C7571E-BBB1-4DDF-9329-A0C028CAE8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1778434"/>
            <a:ext cx="4800600" cy="572219"/>
          </a:xfrm>
        </p:spPr>
        <p:txBody>
          <a:bodyPr anchor="ctr">
            <a:norm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nl-NL" dirty="0"/>
              <a:t>Klik om een tekst toe te voegen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81650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2">
            <a:extLst>
              <a:ext uri="{FF2B5EF4-FFF2-40B4-BE49-F238E27FC236}">
                <a16:creationId xmlns:a16="http://schemas.microsoft.com/office/drawing/2014/main" id="{46F30A6D-703E-4CBF-A83F-E634814A0A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29989" y="490440"/>
            <a:ext cx="4347320" cy="2071883"/>
          </a:xfrm>
          <a:prstGeom prst="rect">
            <a:avLst/>
          </a:prstGeom>
        </p:spPr>
      </p:pic>
      <p:sp>
        <p:nvSpPr>
          <p:cNvPr id="8" name="Titel 10">
            <a:extLst>
              <a:ext uri="{FF2B5EF4-FFF2-40B4-BE49-F238E27FC236}">
                <a16:creationId xmlns:a16="http://schemas.microsoft.com/office/drawing/2014/main" id="{87BD5532-5567-4F98-BCA3-044F72F9FA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3650" y="1526381"/>
            <a:ext cx="4584701" cy="3805238"/>
          </a:xfrm>
        </p:spPr>
        <p:txBody>
          <a:bodyPr anchor="t">
            <a:normAutofit/>
          </a:bodyPr>
          <a:lstStyle>
            <a:lvl1pPr>
              <a:lnSpc>
                <a:spcPct val="130000"/>
              </a:lnSpc>
              <a:defRPr sz="36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 dirty="0"/>
              <a:t>‘Quote’</a:t>
            </a:r>
            <a:endParaRPr lang="en-GB" dirty="0"/>
          </a:p>
        </p:txBody>
      </p:sp>
      <p:sp>
        <p:nvSpPr>
          <p:cNvPr id="10" name="Tijdelijke aanduiding voor tekst 12">
            <a:extLst>
              <a:ext uri="{FF2B5EF4-FFF2-40B4-BE49-F238E27FC236}">
                <a16:creationId xmlns:a16="http://schemas.microsoft.com/office/drawing/2014/main" id="{EEF3AD2B-5693-4B0A-BF89-A306C25906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03651" y="5493742"/>
            <a:ext cx="4584701" cy="449859"/>
          </a:xfrm>
        </p:spPr>
        <p:txBody>
          <a:bodyPr anchor="b">
            <a:normAutofit/>
          </a:bodyPr>
          <a:lstStyle>
            <a:lvl1pPr marL="0" indent="0">
              <a:buNone/>
              <a:defRPr sz="1740"/>
            </a:lvl1pPr>
          </a:lstStyle>
          <a:p>
            <a:pPr lvl="0"/>
            <a:r>
              <a:rPr lang="nl-NL" dirty="0"/>
              <a:t>NAAM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5650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">
            <a:extLst>
              <a:ext uri="{FF2B5EF4-FFF2-40B4-BE49-F238E27FC236}">
                <a16:creationId xmlns:a16="http://schemas.microsoft.com/office/drawing/2014/main" id="{2F35E840-7D0C-489A-B88C-9B5B6A358F43}"/>
              </a:ext>
            </a:extLst>
          </p:cNvPr>
          <p:cNvSpPr/>
          <p:nvPr userDrawn="1"/>
        </p:nvSpPr>
        <p:spPr>
          <a:xfrm>
            <a:off x="3149600" y="733425"/>
            <a:ext cx="5892800" cy="539115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/>
          </a:p>
        </p:txBody>
      </p:sp>
      <p:pic>
        <p:nvPicPr>
          <p:cNvPr id="14" name="Afbeelding 2">
            <a:extLst>
              <a:ext uri="{FF2B5EF4-FFF2-40B4-BE49-F238E27FC236}">
                <a16:creationId xmlns:a16="http://schemas.microsoft.com/office/drawing/2014/main" id="{FFDA8079-95BD-45E3-8313-ABF6A59ED2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40216" y="601589"/>
            <a:ext cx="474585" cy="297299"/>
          </a:xfrm>
          <a:prstGeom prst="rect">
            <a:avLst/>
          </a:prstGeom>
        </p:spPr>
      </p:pic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0085B888-A864-4C76-87C8-996231F374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119" y="1628775"/>
            <a:ext cx="4909763" cy="3600450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sz="3600" dirty="0"/>
              <a:t>‘</a:t>
            </a:r>
            <a:r>
              <a:rPr lang="en-GB" sz="3600" dirty="0"/>
              <a:t>Quote’</a:t>
            </a:r>
            <a:endParaRPr lang="nl-NL" sz="3600" dirty="0"/>
          </a:p>
        </p:txBody>
      </p:sp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7E150451-5081-475D-A7BF-2CE6F5C377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40215" y="5429600"/>
            <a:ext cx="4910667" cy="493713"/>
          </a:xfrm>
        </p:spPr>
        <p:txBody>
          <a:bodyPr anchor="b"/>
          <a:lstStyle>
            <a:lvl1pPr marL="0" indent="0">
              <a:buNone/>
              <a:defRPr sz="174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NAAM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2257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D6486190-F1D1-43BB-B712-AB7BE1C18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stijl te bewerken</a:t>
            </a:r>
            <a:endParaRPr lang="en-GB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BC46703-C372-4CCF-BBDB-349EF159E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GB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D2936B9B-9586-48DE-B845-C54BC129D8BB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3075" y="6227763"/>
            <a:ext cx="1812259" cy="58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920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0" r:id="rId3"/>
    <p:sldLayoutId id="2147483654" r:id="rId4"/>
    <p:sldLayoutId id="2147483657" r:id="rId5"/>
    <p:sldLayoutId id="2147483652" r:id="rId6"/>
    <p:sldLayoutId id="2147483653" r:id="rId7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lang="nl-NL" sz="3200" b="0" kern="1200" dirty="0">
          <a:solidFill>
            <a:srgbClr val="FF005D"/>
          </a:solidFill>
          <a:latin typeface="Avenir Next Condensed"/>
          <a:ea typeface="+mj-ea"/>
          <a:cs typeface="Arial" panose="020B0604020202020204" pitchFamily="34" charset="0"/>
          <a:sym typeface="Avenir Next Condensed Demi Bold"/>
        </a:defRPr>
      </a:lvl1pPr>
    </p:titleStyle>
    <p:bodyStyle>
      <a:lvl1pPr marL="171446" indent="-171446" algn="l" defTabSz="685783" rtl="0" eaLnBrk="1" latinLnBrk="0" hangingPunct="1">
        <a:lnSpc>
          <a:spcPct val="80000"/>
        </a:lnSpc>
        <a:spcBef>
          <a:spcPts val="75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8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indent="-171446" algn="l" defTabSz="685783" rtl="0" eaLnBrk="1" latinLnBrk="0" hangingPunct="1">
        <a:lnSpc>
          <a:spcPct val="8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20" indent="-171446" algn="l" defTabSz="685783" rtl="0" eaLnBrk="1" latinLnBrk="0" hangingPunct="1">
        <a:lnSpc>
          <a:spcPct val="8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8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BC754ADD-F969-40A9-9812-F8428B80AD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Intakegesprek</a:t>
            </a:r>
            <a:r>
              <a:rPr lang="en-US" dirty="0"/>
              <a:t> met </a:t>
            </a:r>
            <a:r>
              <a:rPr lang="en-US" dirty="0" err="1"/>
              <a:t>opdrachtgever</a:t>
            </a:r>
            <a:endParaRPr lang="en-US" dirty="0"/>
          </a:p>
          <a:p>
            <a:endParaRPr lang="en-US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39D5B44-AD09-45D2-9F92-370CB6A02B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nl-NL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5CE0FCF0-FFA1-49A0-B0D7-380218A8C6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nl-NL" dirty="0"/>
              <a:t>Bedrijfskunde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622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EE005-DFC7-5C8F-FA5C-8A0935374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>
                <a:solidFill>
                  <a:srgbClr val="E50056"/>
                </a:solidFill>
              </a:rPr>
              <a:t>Doelen workshop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1E479B-4BF4-574B-8A56-DCD3EA06A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800" dirty="0"/>
              <a:t>De structuur van een intakegesprek toepassen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800" dirty="0"/>
              <a:t>LSD (herhaling jaar 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800" dirty="0"/>
              <a:t>Een gesprek professioneel opstarten en afsluiten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800" dirty="0"/>
              <a:t>Schriftelijk bevestigen van de opdracht en gemaakte afspraken helder en professioneel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800" dirty="0"/>
              <a:t>Bewust omgaan met houding en gespreksvaardigheden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sz="1800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48702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78488-723A-9CE5-D30E-5159FC046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Wie heeft de intake al gevoerd?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5F3FC-1051-4201-6590-33CCBABC7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t"/>
            <a:endParaRPr lang="nl-NL" dirty="0"/>
          </a:p>
          <a:p>
            <a:pPr fontAlgn="t"/>
            <a:r>
              <a:rPr lang="en-NL" b="1" dirty="0" err="1"/>
              <a:t>Reflectievragen</a:t>
            </a:r>
            <a:endParaRPr lang="en-NL" dirty="0"/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NL" dirty="0"/>
              <a:t>Wat ging </a:t>
            </a:r>
            <a:r>
              <a:rPr lang="en-NL" dirty="0" err="1"/>
              <a:t>goed</a:t>
            </a:r>
            <a:r>
              <a:rPr lang="en-NL" dirty="0"/>
              <a:t>?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NL" dirty="0"/>
              <a:t>Wat </a:t>
            </a:r>
            <a:r>
              <a:rPr lang="en-NL" dirty="0" err="1"/>
              <a:t>vond</a:t>
            </a:r>
            <a:r>
              <a:rPr lang="en-NL" dirty="0"/>
              <a:t> je </a:t>
            </a:r>
            <a:r>
              <a:rPr lang="en-NL" dirty="0" err="1"/>
              <a:t>lastig</a:t>
            </a:r>
            <a:r>
              <a:rPr lang="en-NL" dirty="0"/>
              <a:t>?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NL" dirty="0"/>
              <a:t>Welke </a:t>
            </a:r>
            <a:r>
              <a:rPr lang="en-NL" dirty="0" err="1"/>
              <a:t>vraag</a:t>
            </a:r>
            <a:r>
              <a:rPr lang="en-NL" dirty="0"/>
              <a:t> </a:t>
            </a:r>
            <a:r>
              <a:rPr lang="en-NL" dirty="0" err="1"/>
              <a:t>werkte</a:t>
            </a:r>
            <a:r>
              <a:rPr lang="en-NL" dirty="0"/>
              <a:t> </a:t>
            </a:r>
            <a:r>
              <a:rPr lang="en-NL" dirty="0" err="1"/>
              <a:t>verrassend</a:t>
            </a:r>
            <a:r>
              <a:rPr lang="en-NL" dirty="0"/>
              <a:t> </a:t>
            </a:r>
            <a:r>
              <a:rPr lang="en-NL" dirty="0" err="1"/>
              <a:t>goed</a:t>
            </a:r>
            <a:r>
              <a:rPr lang="en-NL" dirty="0"/>
              <a:t>?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NL" dirty="0"/>
              <a:t>Welke </a:t>
            </a:r>
            <a:r>
              <a:rPr lang="en-NL" dirty="0" err="1"/>
              <a:t>informatie</a:t>
            </a:r>
            <a:r>
              <a:rPr lang="en-NL" dirty="0"/>
              <a:t> had je </a:t>
            </a:r>
            <a:r>
              <a:rPr lang="en-NL" dirty="0" err="1"/>
              <a:t>graag</a:t>
            </a:r>
            <a:r>
              <a:rPr lang="en-NL" dirty="0"/>
              <a:t> </a:t>
            </a:r>
            <a:r>
              <a:rPr lang="en-NL" dirty="0" err="1"/>
              <a:t>nog</a:t>
            </a:r>
            <a:r>
              <a:rPr lang="en-NL" dirty="0"/>
              <a:t> </a:t>
            </a:r>
            <a:r>
              <a:rPr lang="en-NL" dirty="0" err="1"/>
              <a:t>willen</a:t>
            </a:r>
            <a:r>
              <a:rPr lang="en-NL" dirty="0"/>
              <a:t> </a:t>
            </a:r>
            <a:r>
              <a:rPr lang="en-NL" dirty="0" err="1"/>
              <a:t>ophalen</a:t>
            </a:r>
            <a:r>
              <a:rPr lang="en-NL" dirty="0"/>
              <a:t>?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NL" dirty="0"/>
              <a:t>Wat </a:t>
            </a:r>
            <a:r>
              <a:rPr lang="en-NL" dirty="0" err="1"/>
              <a:t>zou</a:t>
            </a:r>
            <a:r>
              <a:rPr lang="en-NL" dirty="0"/>
              <a:t> je de </a:t>
            </a:r>
            <a:r>
              <a:rPr lang="en-NL" dirty="0" err="1"/>
              <a:t>volgende</a:t>
            </a:r>
            <a:r>
              <a:rPr lang="en-NL" dirty="0"/>
              <a:t> </a:t>
            </a:r>
            <a:r>
              <a:rPr lang="en-NL" dirty="0" err="1"/>
              <a:t>keer</a:t>
            </a:r>
            <a:r>
              <a:rPr lang="en-NL" dirty="0"/>
              <a:t> </a:t>
            </a:r>
            <a:r>
              <a:rPr lang="en-NL" dirty="0" err="1"/>
              <a:t>anders</a:t>
            </a:r>
            <a:r>
              <a:rPr lang="en-NL" dirty="0"/>
              <a:t> </a:t>
            </a:r>
            <a:r>
              <a:rPr lang="en-NL" dirty="0" err="1"/>
              <a:t>doen</a:t>
            </a:r>
            <a:r>
              <a:rPr lang="en-NL" dirty="0"/>
              <a:t>?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endParaRPr lang="en-NL" dirty="0"/>
          </a:p>
          <a:p>
            <a:r>
              <a:rPr lang="nl-NL" dirty="0"/>
              <a:t>Welke </a:t>
            </a:r>
            <a:r>
              <a:rPr lang="en-NL" dirty="0"/>
              <a:t>5 tot 10 lessen</a:t>
            </a:r>
            <a:r>
              <a:rPr lang="nl-NL" dirty="0"/>
              <a:t> hebben we geleerd? </a:t>
            </a:r>
          </a:p>
          <a:p>
            <a:r>
              <a:rPr lang="en-N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5034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C4DF2-958D-4257-1FA8-F072304E1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>
                <a:solidFill>
                  <a:srgbClr val="E50056"/>
                </a:solidFill>
              </a:rPr>
              <a:t>Wat is een intakegesprek volgens jullie?</a:t>
            </a:r>
          </a:p>
        </p:txBody>
      </p:sp>
      <p:pic>
        <p:nvPicPr>
          <p:cNvPr id="1026" name="Picture 2" descr="Word cloud Afbeeldingen - Gratis downloaden op Freepik">
            <a:extLst>
              <a:ext uri="{FF2B5EF4-FFF2-40B4-BE49-F238E27FC236}">
                <a16:creationId xmlns:a16="http://schemas.microsoft.com/office/drawing/2014/main" id="{F21B0242-9929-5BA3-C68A-10F4CD9B960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296" y="2021638"/>
            <a:ext cx="5793452" cy="4358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026D02-FC79-28B5-1832-90B8D685B377}"/>
              </a:ext>
            </a:extLst>
          </p:cNvPr>
          <p:cNvSpPr txBox="1"/>
          <p:nvPr/>
        </p:nvSpPr>
        <p:spPr>
          <a:xfrm>
            <a:off x="6979534" y="2523281"/>
            <a:ext cx="474561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>
              <a:buNone/>
            </a:pPr>
            <a:r>
              <a:rPr lang="nl-NL" sz="2000" dirty="0">
                <a:latin typeface="Arial" panose="020B0604020202020204" pitchFamily="34" charset="0"/>
                <a:cs typeface="Arial" panose="020B0604020202020204" pitchFamily="34" charset="0"/>
              </a:rPr>
              <a:t>Het </a:t>
            </a:r>
            <a:r>
              <a:rPr lang="nl-NL" sz="2000" b="1" dirty="0">
                <a:latin typeface="Arial" panose="020B0604020202020204" pitchFamily="34" charset="0"/>
                <a:cs typeface="Arial" panose="020B0604020202020204" pitchFamily="34" charset="0"/>
              </a:rPr>
              <a:t>doel van een intakegesprek</a:t>
            </a:r>
            <a:r>
              <a:rPr lang="nl-NL" sz="2000" dirty="0">
                <a:latin typeface="Arial" panose="020B0604020202020204" pitchFamily="34" charset="0"/>
                <a:cs typeface="Arial" panose="020B0604020202020204" pitchFamily="34" charset="0"/>
              </a:rPr>
              <a:t> is om een gedeeld en duidelijk beeld te krijgen van de opdracht én om te bepalen of en hoe jij als professional/consultant waarde kunt toevoegen.</a:t>
            </a:r>
          </a:p>
        </p:txBody>
      </p:sp>
    </p:spTree>
    <p:extLst>
      <p:ext uri="{BB962C8B-B14F-4D97-AF65-F5344CB8AC3E}">
        <p14:creationId xmlns:p14="http://schemas.microsoft.com/office/powerpoint/2010/main" val="2998888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A25A30-B887-4661-B562-7E5666387B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nl-NL" dirty="0"/>
              <a:t>Algemene info: intake met de opdrachtgever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97D4AD-08AD-41C4-BFCE-F5396CC2B4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97408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62623-6673-BCA8-09EE-B3290B1C8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b">
            <a:normAutofit/>
          </a:bodyPr>
          <a:lstStyle/>
          <a:p>
            <a:r>
              <a:rPr lang="nl-NL" b="1" dirty="0">
                <a:solidFill>
                  <a:srgbClr val="E50056"/>
                </a:solidFill>
              </a:rPr>
              <a:t>Wat levert een intake op?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85EC2-3B51-C040-FBB2-EC1814286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00600" cy="4351338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nl-NL" sz="2000" dirty="0"/>
              <a:t>Kennismaking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nl-NL" sz="2000" dirty="0"/>
              <a:t>Verwachtingen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nl-NL" sz="2000" dirty="0"/>
              <a:t>Achterliggende motieven, behoeften, probleem, aanleiding, beoogd organisatieresultaat? Waarom….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nl-NL" sz="2000" dirty="0"/>
              <a:t>Belangrijke kaders, mijlpalen, besluitvorming?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nl-NL" sz="2000" dirty="0"/>
              <a:t>Betrokkenen (stakeholders)?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nl-NL" sz="2000" dirty="0"/>
              <a:t>Zicht op de eerstvolgende stap: projectdefinitie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nl-NL" sz="2000" dirty="0"/>
              <a:t>Concrete vervolgafspraken, communicatie</a:t>
            </a:r>
          </a:p>
          <a:p>
            <a:endParaRPr lang="nl-NL" dirty="0"/>
          </a:p>
        </p:txBody>
      </p:sp>
      <p:pic>
        <p:nvPicPr>
          <p:cNvPr id="6" name="Picture 2" descr="White Spiral Notebook Beside Orange Pencil">
            <a:extLst>
              <a:ext uri="{FF2B5EF4-FFF2-40B4-BE49-F238E27FC236}">
                <a16:creationId xmlns:a16="http://schemas.microsoft.com/office/drawing/2014/main" id="{8A8D075B-9438-D88C-35DD-CF3F34E92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43" r="12638" b="-2"/>
          <a:stretch>
            <a:fillRect/>
          </a:stretch>
        </p:blipFill>
        <p:spPr bwMode="auto">
          <a:xfrm>
            <a:off x="6553203" y="1825625"/>
            <a:ext cx="4800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09912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9A24B-73AB-0206-1A97-353D98EB4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b">
            <a:normAutofit/>
          </a:bodyPr>
          <a:lstStyle/>
          <a:p>
            <a:r>
              <a:rPr lang="nl-NL" b="1" dirty="0">
                <a:solidFill>
                  <a:srgbClr val="E50056"/>
                </a:solidFill>
              </a:rPr>
              <a:t>Je krijgt geen 2</a:t>
            </a:r>
            <a:r>
              <a:rPr lang="nl-NL" b="1" baseline="30000" dirty="0">
                <a:solidFill>
                  <a:srgbClr val="E50056"/>
                </a:solidFill>
              </a:rPr>
              <a:t>e</a:t>
            </a:r>
            <a:r>
              <a:rPr lang="nl-NL" b="1" dirty="0">
                <a:solidFill>
                  <a:srgbClr val="E50056"/>
                </a:solidFill>
              </a:rPr>
              <a:t> kans om een eerste indruk te maken</a:t>
            </a:r>
          </a:p>
        </p:txBody>
      </p:sp>
      <p:pic>
        <p:nvPicPr>
          <p:cNvPr id="4" name="Afbeelding 5">
            <a:extLst>
              <a:ext uri="{FF2B5EF4-FFF2-40B4-BE49-F238E27FC236}">
                <a16:creationId xmlns:a16="http://schemas.microsoft.com/office/drawing/2014/main" id="{87061373-D082-20EE-3A34-A7A9FBD301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29" r="8625" b="-3"/>
          <a:stretch>
            <a:fillRect/>
          </a:stretch>
        </p:blipFill>
        <p:spPr>
          <a:xfrm>
            <a:off x="838200" y="1825625"/>
            <a:ext cx="4800600" cy="4351338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E10B17-9431-BB88-FBCA-AD2B4646B58F}"/>
              </a:ext>
            </a:extLst>
          </p:cNvPr>
          <p:cNvSpPr txBox="1"/>
          <p:nvPr/>
        </p:nvSpPr>
        <p:spPr>
          <a:xfrm>
            <a:off x="7095280" y="2569580"/>
            <a:ext cx="36807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dirty="0">
                <a:latin typeface="Arial" panose="020B0604020202020204" pitchFamily="34" charset="0"/>
                <a:cs typeface="Arial" panose="020B0604020202020204" pitchFamily="34" charset="0"/>
              </a:rPr>
              <a:t>Directe link met professionele ontwikkeling</a:t>
            </a:r>
          </a:p>
        </p:txBody>
      </p:sp>
    </p:spTree>
    <p:extLst>
      <p:ext uri="{BB962C8B-B14F-4D97-AF65-F5344CB8AC3E}">
        <p14:creationId xmlns:p14="http://schemas.microsoft.com/office/powerpoint/2010/main" val="1957404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55DE8-553A-01E3-123D-3EDCA687D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ctr">
            <a:normAutofit/>
          </a:bodyPr>
          <a:lstStyle/>
          <a:p>
            <a:br>
              <a:rPr lang="nl-NL" b="1" dirty="0">
                <a:solidFill>
                  <a:srgbClr val="E50056"/>
                </a:solidFill>
              </a:rPr>
            </a:br>
            <a:r>
              <a:rPr lang="nl-NL" b="1" dirty="0">
                <a:solidFill>
                  <a:srgbClr val="E50056"/>
                </a:solidFill>
              </a:rPr>
              <a:t>Dus voorbereiden op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72AF4-D7E8-2098-8678-7B9967D91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162549" cy="4351338"/>
          </a:xfrm>
        </p:spPr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nl-NL" sz="2000" dirty="0"/>
              <a:t>Projectopdracht</a:t>
            </a:r>
          </a:p>
          <a:p>
            <a:pPr marL="285750" indent="-285750">
              <a:buFontTx/>
              <a:buChar char="-"/>
            </a:pPr>
            <a:r>
              <a:rPr lang="nl-NL" sz="2000" dirty="0"/>
              <a:t>Organisatie</a:t>
            </a:r>
          </a:p>
          <a:p>
            <a:pPr marL="285750" indent="-285750">
              <a:buFontTx/>
              <a:buChar char="-"/>
            </a:pPr>
            <a:r>
              <a:rPr lang="nl-NL" sz="2000" dirty="0"/>
              <a:t>Randvoorwaarden vanuit opleiding BK</a:t>
            </a:r>
          </a:p>
          <a:p>
            <a:pPr marL="285750" indent="-285750">
              <a:buFontTx/>
              <a:buChar char="-"/>
            </a:pPr>
            <a:r>
              <a:rPr lang="nl-NL" sz="2000" dirty="0"/>
              <a:t>Opdrachtgever</a:t>
            </a:r>
          </a:p>
          <a:p>
            <a:pPr marL="285750" indent="-285750">
              <a:buFontTx/>
              <a:buChar char="-"/>
            </a:pPr>
            <a:r>
              <a:rPr lang="nl-NL" sz="2000" dirty="0"/>
              <a:t>Actualiteit</a:t>
            </a:r>
          </a:p>
          <a:p>
            <a:pPr marL="285750" indent="-285750">
              <a:buFontTx/>
              <a:buChar char="-"/>
            </a:pPr>
            <a:r>
              <a:rPr lang="nl-NL" sz="2000" dirty="0"/>
              <a:t>Het gesprek zelf</a:t>
            </a:r>
          </a:p>
          <a:p>
            <a:endParaRPr lang="nl-NL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BF0BF4A7-8559-23A0-BDE8-4A186E3891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533"/>
          <a:stretch>
            <a:fillRect/>
          </a:stretch>
        </p:blipFill>
        <p:spPr>
          <a:xfrm>
            <a:off x="6191248" y="1825625"/>
            <a:ext cx="5162549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33313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04B12-EDDF-C17A-45D1-17BE285DA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>
                <a:solidFill>
                  <a:srgbClr val="E50056"/>
                </a:solidFill>
              </a:rPr>
              <a:t>Verloop van het gesprek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411A0-2AB4-1FA8-CCCF-ED8414C94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297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sz="2000" dirty="0"/>
              <a:t>Fases</a:t>
            </a:r>
          </a:p>
          <a:p>
            <a:pPr marL="514350" indent="-514350">
              <a:buSzPct val="88000"/>
              <a:buFont typeface="+mj-lt"/>
              <a:buAutoNum type="arabicPeriod"/>
            </a:pPr>
            <a:r>
              <a:rPr lang="nl-NL" sz="2000" dirty="0"/>
              <a:t>Kennismaking en opening (contact maken, doel uitleggen)</a:t>
            </a:r>
          </a:p>
          <a:p>
            <a:pPr marL="514350" indent="-514350">
              <a:buSzPct val="88000"/>
              <a:buFont typeface="+mj-lt"/>
              <a:buAutoNum type="arabicPeriod"/>
            </a:pPr>
            <a:r>
              <a:rPr lang="nl-NL" sz="2000" dirty="0"/>
              <a:t>Verkenning projectopdracht en de context (vragen stellen, luisteren)</a:t>
            </a:r>
          </a:p>
          <a:p>
            <a:pPr marL="514350" indent="-514350">
              <a:buSzPct val="88000"/>
              <a:buFont typeface="+mj-lt"/>
              <a:buAutoNum type="arabicPeriod"/>
            </a:pPr>
            <a:r>
              <a:rPr lang="nl-NL" sz="2000" dirty="0"/>
              <a:t>Verdieping (doorvragen, samenvatten)</a:t>
            </a:r>
          </a:p>
          <a:p>
            <a:pPr marL="514350" indent="-514350">
              <a:buSzPct val="88000"/>
              <a:buFont typeface="+mj-lt"/>
              <a:buAutoNum type="arabicPeriod"/>
            </a:pPr>
            <a:r>
              <a:rPr lang="nl-NL" sz="2000" dirty="0">
                <a:latin typeface="Arial"/>
                <a:cs typeface="Arial"/>
              </a:rPr>
              <a:t>Afronding gesprek (samenvatten):verwachtingen managen en </a:t>
            </a:r>
            <a:r>
              <a:rPr lang="nl-NL" sz="2000">
                <a:latin typeface="Arial"/>
                <a:cs typeface="Arial"/>
              </a:rPr>
              <a:t>afspraken maken. </a:t>
            </a:r>
          </a:p>
          <a:p>
            <a:endParaRPr lang="nl-NL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E97FF3D9-17BB-4EE8-9C47-DA0E256ED3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3274" y="1479431"/>
            <a:ext cx="5552973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942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36861-EA58-7980-F605-7AD6BA600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9EDC80B-FAF8-48BC-3474-BC3B2D9E5077}"/>
              </a:ext>
            </a:extLst>
          </p:cNvPr>
          <p:cNvSpPr txBox="1"/>
          <p:nvPr/>
        </p:nvSpPr>
        <p:spPr>
          <a:xfrm>
            <a:off x="841829" y="1738086"/>
            <a:ext cx="10007599" cy="44319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nl-NL" sz="2200" kern="1200">
                <a:solidFill>
                  <a:srgbClr val="E50056"/>
                </a:solidFill>
                <a:latin typeface="Arial"/>
                <a:ea typeface="+mn-ea"/>
                <a:cs typeface="Arial"/>
              </a:rPr>
              <a:t>Een gesprek is goed verlopen als:</a:t>
            </a:r>
          </a:p>
          <a:p>
            <a:pPr marL="0" indent="0" algn="l" rtl="0"/>
            <a:r>
              <a:rPr lang="nl-NL" sz="2200" b="1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I= Inhoud </a:t>
            </a:r>
            <a:r>
              <a:rPr lang="nl-NL" sz="220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Er bestond duidelijkheid over de onderwerpen die  besproken diende te worden (de gespreksonderwerpen, de informatie die uitgewisseld wordt) </a:t>
            </a:r>
          </a:p>
          <a:p>
            <a:pPr marL="0" indent="0" algn="l" rtl="0"/>
            <a:r>
              <a:rPr lang="nl-NL" sz="2200" b="1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P= Procedures </a:t>
            </a:r>
            <a:r>
              <a:rPr lang="nl-NL" sz="220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Er was geen misverstand over tijdstip, duur, volgorde en doelstelling (de agenda, tijd en plaats) </a:t>
            </a:r>
          </a:p>
          <a:p>
            <a:pPr marL="0" indent="0" algn="l" rtl="0"/>
            <a:r>
              <a:rPr lang="nl-NL" sz="2200" b="1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R= Relatie </a:t>
            </a:r>
            <a:r>
              <a:rPr lang="nl-NL" sz="220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De verwachtingen waren helder, de verhouding t.o.v. elkaar was duidelijk en de sfeer was passend (de beelden over elkaar, verwachtingen t.a.v. elkaars rol en de sfeer van het gesprek) </a:t>
            </a:r>
          </a:p>
          <a:p>
            <a:pPr marL="0" indent="0" algn="l" rtl="0"/>
            <a:r>
              <a:rPr lang="nl-NL" sz="2200" b="1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E= Emotie </a:t>
            </a:r>
            <a:r>
              <a:rPr lang="nl-NL" sz="2200" kern="1200">
                <a:solidFill>
                  <a:schemeClr val="tx1"/>
                </a:solidFill>
                <a:latin typeface="Arial"/>
                <a:ea typeface="+mn-ea"/>
                <a:cs typeface="Arial"/>
              </a:rPr>
              <a:t>Gesprekspartners voelden zich op hun gemak. Het gesprek werd beleefd als aangenaam en constructief ((ont)spanning, (on)genoegen, irritatie, opluchting) </a:t>
            </a:r>
          </a:p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82A3C1C-BE16-B103-ACD8-29D8BBB5D033}"/>
              </a:ext>
            </a:extLst>
          </p:cNvPr>
          <p:cNvSpPr txBox="1">
            <a:spLocks/>
          </p:cNvSpPr>
          <p:nvPr/>
        </p:nvSpPr>
        <p:spPr>
          <a:xfrm>
            <a:off x="845457" y="234500"/>
            <a:ext cx="1067525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0" kern="1200" dirty="0" smtClean="0">
                <a:solidFill>
                  <a:srgbClr val="FF005D"/>
                </a:solidFill>
                <a:latin typeface="Avenir Next Condensed"/>
                <a:ea typeface="Avenir Next Condensed"/>
                <a:cs typeface="Arial" panose="020B0604020202020204" pitchFamily="34" charset="0"/>
                <a:sym typeface="Avenir Next Condensed Demi Bold"/>
              </a:defRPr>
            </a:lvl1pPr>
          </a:lstStyle>
          <a:p>
            <a:r>
              <a:rPr lang="nl-NL" b="1">
                <a:solidFill>
                  <a:srgbClr val="E50056"/>
                </a:solidFill>
                <a:cs typeface="Arial"/>
              </a:rPr>
              <a:t>IPRE Model</a:t>
            </a:r>
            <a:endParaRPr lang="nl-NL" b="1" dirty="0">
              <a:solidFill>
                <a:srgbClr val="E5005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9332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99941-353F-D65A-65BE-405EB4BDD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>
                <a:solidFill>
                  <a:srgbClr val="E50056"/>
                </a:solidFill>
              </a:rPr>
              <a:t>Goede of slechte vragen?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A35E85-E260-7686-4652-92CCD8407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endParaRPr lang="nl-NL" sz="2800" dirty="0"/>
          </a:p>
          <a:p>
            <a:pPr algn="ctr"/>
            <a:endParaRPr lang="nl-NL" sz="2800" dirty="0"/>
          </a:p>
          <a:p>
            <a:pPr algn="ctr"/>
            <a:r>
              <a:rPr lang="nl-NL" sz="2000" dirty="0"/>
              <a:t>“Je hebt dus problemen met je stage, toch?”</a:t>
            </a:r>
          </a:p>
          <a:p>
            <a:pPr algn="ctr"/>
            <a:endParaRPr lang="nl-NL" sz="2000" dirty="0"/>
          </a:p>
          <a:p>
            <a:pPr algn="ctr"/>
            <a:r>
              <a:rPr lang="nl-NL" sz="2000" dirty="0"/>
              <a:t>❌ “Je hebt dus problemen met je stage, toch?”</a:t>
            </a:r>
            <a:br>
              <a:rPr lang="nl-NL" sz="2000" dirty="0"/>
            </a:br>
            <a:r>
              <a:rPr lang="nl-NL" sz="2000" dirty="0"/>
              <a:t>✅ “Kun je vertellen hoe het met je stage gaat?”</a:t>
            </a:r>
          </a:p>
          <a:p>
            <a:pPr algn="ctr"/>
            <a:endParaRPr lang="nl-NL" sz="2000" dirty="0"/>
          </a:p>
          <a:p>
            <a:pPr algn="ctr"/>
            <a:r>
              <a:rPr lang="nl-NL" sz="2000" dirty="0"/>
              <a:t>Probleem: suggestief + invulling voor de ander</a:t>
            </a:r>
          </a:p>
          <a:p>
            <a:pPr algn="ctr"/>
            <a:endParaRPr lang="nl-NL" sz="2000" dirty="0"/>
          </a:p>
          <a:p>
            <a:pPr algn="ctr"/>
            <a:endParaRPr lang="nl-NL" sz="2800" dirty="0"/>
          </a:p>
          <a:p>
            <a:pPr algn="ctr"/>
            <a:endParaRPr lang="nl-NL" sz="2800" dirty="0"/>
          </a:p>
        </p:txBody>
      </p:sp>
    </p:spTree>
    <p:extLst>
      <p:ext uri="{BB962C8B-B14F-4D97-AF65-F5344CB8AC3E}">
        <p14:creationId xmlns:p14="http://schemas.microsoft.com/office/powerpoint/2010/main" val="265606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56A5B-46D4-7655-A13A-7D5DF24E8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>
                <a:solidFill>
                  <a:srgbClr val="E50056"/>
                </a:solidFill>
              </a:rPr>
              <a:t>Goede of slechte vragen?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13E26-F34F-6350-0E26-3B28576AE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/>
          <a:lstStyle/>
          <a:p>
            <a:pPr algn="ctr"/>
            <a:endParaRPr lang="nl-NL" sz="2000" dirty="0"/>
          </a:p>
          <a:p>
            <a:pPr algn="ctr"/>
            <a:r>
              <a:rPr lang="nl-NL" sz="2000" dirty="0"/>
              <a:t>“Wat maakte dat je het tot nu toe nog niet hebt gedeeld?”</a:t>
            </a:r>
          </a:p>
          <a:p>
            <a:pPr algn="ctr"/>
            <a:endParaRPr lang="nl-NL" sz="2000" dirty="0"/>
          </a:p>
          <a:p>
            <a:r>
              <a:rPr lang="nl-NL" sz="2000" dirty="0"/>
              <a:t>	❌ “Waarom heb je dat niet eerder aangegeven?”</a:t>
            </a:r>
            <a:br>
              <a:rPr lang="nl-NL" sz="2000" dirty="0"/>
            </a:br>
            <a:r>
              <a:rPr lang="nl-NL" sz="2000" dirty="0"/>
              <a:t>	✅ “Wat maakte dat je het tot nu toe nog niet hebt gedeeld?”</a:t>
            </a:r>
          </a:p>
          <a:p>
            <a:pPr algn="ctr"/>
            <a:endParaRPr lang="nl-NL" sz="2000" dirty="0"/>
          </a:p>
          <a:p>
            <a:pPr algn="ctr"/>
            <a:r>
              <a:rPr lang="nl-NL" sz="2000" dirty="0"/>
              <a:t>Probleem: oordelend / kan defensief maken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24066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59CB8-4E1B-ACDF-39F3-52AD37151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>
                <a:solidFill>
                  <a:srgbClr val="E50056"/>
                </a:solidFill>
              </a:rPr>
              <a:t>Goede of slechte vragen?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966AC-7059-CC6C-054A-6CC0A9E7B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 fontAlgn="t"/>
            <a:endParaRPr lang="nl-NL" sz="2800" dirty="0"/>
          </a:p>
          <a:p>
            <a:pPr algn="ctr" fontAlgn="t"/>
            <a:r>
              <a:rPr lang="nl-NL" sz="2000" dirty="0"/>
              <a:t>“Vind je het niet gewoon lastig om te plannen?”</a:t>
            </a:r>
          </a:p>
          <a:p>
            <a:pPr algn="ctr" fontAlgn="t"/>
            <a:endParaRPr lang="nl-NL" sz="2000" dirty="0"/>
          </a:p>
          <a:p>
            <a:pPr fontAlgn="t"/>
            <a:r>
              <a:rPr lang="nl-NL" sz="2000" dirty="0"/>
              <a:t>		❌ “Vind je het niet gewoon lastig om te plannen?”</a:t>
            </a:r>
            <a:br>
              <a:rPr lang="nl-NL" sz="2000" dirty="0"/>
            </a:br>
            <a:r>
              <a:rPr lang="nl-NL" sz="2000" dirty="0"/>
              <a:t>		✅ “Wat gaat er goed en wat gaat er minder goed in je planning?”</a:t>
            </a:r>
          </a:p>
          <a:p>
            <a:pPr algn="ctr" fontAlgn="t"/>
            <a:endParaRPr lang="nl-NL" sz="2000" dirty="0"/>
          </a:p>
          <a:p>
            <a:pPr algn="ctr" fontAlgn="t"/>
            <a:r>
              <a:rPr lang="nl-NL" sz="2000" dirty="0"/>
              <a:t>Probleem: stuurt naar een antwoord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64231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10280-0051-44CF-C93E-D7AB06D31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>
                <a:solidFill>
                  <a:srgbClr val="E50056"/>
                </a:solidFill>
              </a:rPr>
              <a:t>Goede of slechte vragen?</a:t>
            </a:r>
            <a:endParaRPr lang="nl-N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DB8C4F-E6D2-C868-6A74-6CA0F48F5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nl-NL" sz="2800" dirty="0"/>
          </a:p>
          <a:p>
            <a:pPr algn="ctr"/>
            <a:r>
              <a:rPr lang="nl-NL" sz="2000" dirty="0"/>
              <a:t>“Heb je stress?”</a:t>
            </a:r>
          </a:p>
          <a:p>
            <a:pPr algn="ctr"/>
            <a:endParaRPr lang="nl-NL" sz="2000" dirty="0"/>
          </a:p>
          <a:p>
            <a:r>
              <a:rPr lang="nl-NL" sz="2000" dirty="0"/>
              <a:t>				❌ “Heb je stress?”</a:t>
            </a:r>
            <a:br>
              <a:rPr lang="nl-NL" sz="2000" dirty="0"/>
            </a:br>
            <a:r>
              <a:rPr lang="nl-NL" sz="2000" dirty="0"/>
              <a:t>				✅ “Waar ervaar je op dit moment spanning of druk?”</a:t>
            </a:r>
          </a:p>
          <a:p>
            <a:pPr algn="ctr"/>
            <a:endParaRPr lang="nl-NL" sz="2000" dirty="0"/>
          </a:p>
          <a:p>
            <a:pPr algn="ctr"/>
            <a:r>
              <a:rPr lang="nl-NL" sz="2000" dirty="0"/>
              <a:t>Probleem: gesloten + beperkt antwoord</a:t>
            </a:r>
          </a:p>
          <a:p>
            <a:endParaRPr lang="nl-NL" sz="1800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46986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D706D-99BA-9CB5-0779-55341D396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>
                <a:solidFill>
                  <a:srgbClr val="E50056"/>
                </a:solidFill>
              </a:rPr>
              <a:t>Goede of slechte vragen?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40B8A-D8E6-83F9-7B7F-429A7FDB8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/>
            <a:endParaRPr lang="nl-NL" sz="1800" dirty="0"/>
          </a:p>
          <a:p>
            <a:pPr algn="ctr" fontAlgn="t"/>
            <a:r>
              <a:rPr lang="nl-NL" sz="2000" dirty="0"/>
              <a:t>“Hoe is het voor je om hiermee rond te lopen?”</a:t>
            </a:r>
          </a:p>
          <a:p>
            <a:pPr algn="ctr" fontAlgn="t"/>
            <a:endParaRPr lang="nl-NL" sz="2000" dirty="0"/>
          </a:p>
          <a:p>
            <a:pPr fontAlgn="t"/>
            <a:r>
              <a:rPr lang="nl-NL" sz="2000" dirty="0"/>
              <a:t>	❌ “Dat lijkt me heel vervelend voor je, maar heb je al hulp gezocht?”</a:t>
            </a:r>
            <a:br>
              <a:rPr lang="nl-NL" sz="2000" dirty="0"/>
            </a:br>
            <a:r>
              <a:rPr lang="nl-NL" sz="2000" dirty="0"/>
              <a:t>	✅ “Hoe is het voor je om hiermee rond te lopen?” vervolg: “Wat heb je tot nu toe 		       gedaan om hiermee om te gaan?”</a:t>
            </a:r>
          </a:p>
          <a:p>
            <a:pPr algn="ctr" fontAlgn="t"/>
            <a:endParaRPr lang="nl-NL" sz="2000" dirty="0"/>
          </a:p>
          <a:p>
            <a:pPr algn="ctr" fontAlgn="t"/>
            <a:r>
              <a:rPr lang="nl-NL" sz="2000" dirty="0"/>
              <a:t>Probleem: te snel naar oplossing / advies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19582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669F8-4A27-890D-694B-893F2DBB1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>
                <a:solidFill>
                  <a:srgbClr val="E50056"/>
                </a:solidFill>
              </a:rPr>
              <a:t>Bedenk een slechte vraag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137B64-2F07-3B70-B098-3C99CC00E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sz="2000" b="1" dirty="0"/>
              <a:t>Individueel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/>
              <a:t>Bedenk een slechte vraag die je aan je nieuwe opdrachtgever kan stellen tijdens de intake.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/>
              <a:t>en verbeter deze ….</a:t>
            </a:r>
          </a:p>
        </p:txBody>
      </p:sp>
    </p:spTree>
    <p:extLst>
      <p:ext uri="{BB962C8B-B14F-4D97-AF65-F5344CB8AC3E}">
        <p14:creationId xmlns:p14="http://schemas.microsoft.com/office/powerpoint/2010/main" val="511399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23B93-4C74-4A5B-7BDE-7EAFFF98F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ctr">
            <a:normAutofit/>
          </a:bodyPr>
          <a:lstStyle/>
          <a:p>
            <a:r>
              <a:rPr lang="nl-NL" b="1" dirty="0"/>
              <a:t>Vragenspel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DC2C7-74CE-EC0E-6853-5B30D838D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162549" cy="4351338"/>
          </a:xfrm>
        </p:spPr>
        <p:txBody>
          <a:bodyPr>
            <a:normAutofit/>
          </a:bodyPr>
          <a:lstStyle/>
          <a:p>
            <a:pPr lvl="0"/>
            <a:r>
              <a:rPr lang="nl-NL" sz="2000" b="1" dirty="0"/>
              <a:t>Studenten in duo’s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l-NL" sz="2000" dirty="0"/>
              <a:t>Eén vertelt 5 min over een situatie (bijv. stageprobleem)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l-NL" sz="2000" dirty="0"/>
              <a:t>Ander mag ALLEEN vragen stellen (geen advies!)</a:t>
            </a:r>
          </a:p>
          <a:p>
            <a:endParaRPr lang="nl-NL" dirty="0"/>
          </a:p>
        </p:txBody>
      </p:sp>
      <p:pic>
        <p:nvPicPr>
          <p:cNvPr id="5122" name="Picture 2" descr="3D-vraaggesprek icoon 8845723 PNG">
            <a:extLst>
              <a:ext uri="{FF2B5EF4-FFF2-40B4-BE49-F238E27FC236}">
                <a16:creationId xmlns:a16="http://schemas.microsoft.com/office/drawing/2014/main" id="{86CD48B8-9703-E501-AFDF-E23449F3F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92" r="14646" b="-3"/>
          <a:stretch>
            <a:fillRect/>
          </a:stretch>
        </p:blipFill>
        <p:spPr bwMode="auto">
          <a:xfrm>
            <a:off x="6191248" y="1825625"/>
            <a:ext cx="5162549" cy="4351338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4514849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D8759D-36E4-9197-B82F-258DA1B6CE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84874" y="383381"/>
            <a:ext cx="3822251" cy="6091237"/>
          </a:xfrm>
          <a:prstGeom prst="rect">
            <a:avLst/>
          </a:prstGeom>
          <a:noFill/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640955A-0404-0EF8-1039-584986F16D3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6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­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4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2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90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4427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596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765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33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b="1" dirty="0">
                <a:solidFill>
                  <a:schemeClr val="tx2"/>
                </a:solidFill>
              </a:rPr>
              <a:t>BREAK - 10 minuten</a:t>
            </a:r>
          </a:p>
        </p:txBody>
      </p:sp>
    </p:spTree>
    <p:extLst>
      <p:ext uri="{BB962C8B-B14F-4D97-AF65-F5344CB8AC3E}">
        <p14:creationId xmlns:p14="http://schemas.microsoft.com/office/powerpoint/2010/main" val="21697518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3F050-C22B-54EF-1EF7-C9FCD19DC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>
                <a:solidFill>
                  <a:srgbClr val="E50056"/>
                </a:solidFill>
              </a:rPr>
              <a:t>Het voeren van een intakegesprek met opdrachtgever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91D63-6DDA-6545-27C3-253892AEA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sz="2000" dirty="0"/>
              <a:t>Jullie gaan zo een intakegesprek met elkaar voeren. Drie rollen: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nl-NL" sz="2000" dirty="0"/>
              <a:t>Student A = </a:t>
            </a:r>
            <a:r>
              <a:rPr lang="nl-NL" sz="2000" b="1" dirty="0"/>
              <a:t>consultant</a:t>
            </a:r>
            <a:endParaRPr lang="nl-NL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nl-NL" sz="2000" dirty="0"/>
              <a:t>Student B = </a:t>
            </a:r>
            <a:r>
              <a:rPr lang="nl-NL" sz="2000" b="1" dirty="0"/>
              <a:t>opdrachtgever (teamleider operations)</a:t>
            </a:r>
            <a:endParaRPr lang="nl-NL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nl-NL" sz="2000" dirty="0"/>
              <a:t>Student C =</a:t>
            </a:r>
            <a:r>
              <a:rPr lang="nl-NL" sz="2000" b="1" dirty="0"/>
              <a:t> observator</a:t>
            </a:r>
            <a:endParaRPr lang="nl-NL" sz="2000" dirty="0"/>
          </a:p>
          <a:p>
            <a:pPr lvl="0"/>
            <a:r>
              <a:rPr lang="nl-NL" sz="2000" dirty="0"/>
              <a:t>Doel: probleem achterhalen en opdracht verhelderen</a:t>
            </a:r>
          </a:p>
          <a:p>
            <a:endParaRPr lang="nl-NL" sz="2000" b="1" dirty="0"/>
          </a:p>
          <a:p>
            <a:r>
              <a:rPr lang="nl-NL" sz="2000" b="1" dirty="0"/>
              <a:t>Observatie opdracht – let op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l-NL" sz="2000" dirty="0"/>
              <a:t>Soorten vragen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l-NL" sz="2000" dirty="0"/>
              <a:t>Samenvattingen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l-NL" sz="2000" dirty="0"/>
              <a:t>Non-verbaal gedrag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22573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22A7F-3AFD-330B-439A-7988CC022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>
                <a:solidFill>
                  <a:srgbClr val="E50056"/>
                </a:solidFill>
              </a:rPr>
              <a:t>Van gesprek naar opdrachtbevestiging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825B2-5F1C-337E-CF35-4A2C31CF0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sz="2000" dirty="0"/>
              <a:t>Wat is belangrijk om te doen na een intakegesprek?</a:t>
            </a:r>
          </a:p>
          <a:p>
            <a:endParaRPr lang="nl-NL" sz="2000" dirty="0"/>
          </a:p>
          <a:p>
            <a:pPr marL="342900" lvl="0" indent="-342900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nl-NL" sz="2000" dirty="0"/>
              <a:t>Waarom is zo’n bevestiging belangrijk? </a:t>
            </a:r>
          </a:p>
          <a:p>
            <a:pPr marL="342900" lvl="0" indent="-342900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nl-NL" sz="2000" dirty="0"/>
              <a:t>Wat kan er misgaan als je dit niet doet?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29331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820C3-6734-C92E-A7D8-6E6371712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ctr">
            <a:normAutofit/>
          </a:bodyPr>
          <a:lstStyle/>
          <a:p>
            <a:r>
              <a:rPr lang="nl-NL" b="1" dirty="0">
                <a:solidFill>
                  <a:srgbClr val="E50056"/>
                </a:solidFill>
              </a:rPr>
              <a:t>Wat moet er in een opdrachtbeschrijving?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8E954-1FB0-B2A2-7C0B-27E19B9E9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162549" cy="4351338"/>
          </a:xfrm>
        </p:spPr>
        <p:txBody>
          <a:bodyPr>
            <a:normAutofit/>
          </a:bodyPr>
          <a:lstStyle/>
          <a:p>
            <a:r>
              <a:rPr lang="nl-NL" sz="2000" dirty="0"/>
              <a:t>Opdracht: bedenk in </a:t>
            </a:r>
            <a:r>
              <a:rPr lang="nl-NL" sz="2000" b="1" dirty="0"/>
              <a:t>duo’s</a:t>
            </a:r>
            <a:r>
              <a:rPr lang="nl-NL" sz="2000" dirty="0"/>
              <a:t> wat er allemaal in een goede opdrachtbeschrijving staat.</a:t>
            </a:r>
          </a:p>
          <a:p>
            <a:endParaRPr lang="nl-NL" dirty="0"/>
          </a:p>
          <a:p>
            <a:endParaRPr lang="nl-NL" dirty="0"/>
          </a:p>
        </p:txBody>
      </p:sp>
      <p:pic>
        <p:nvPicPr>
          <p:cNvPr id="1026" name="Picture 2" descr="Onderzoek onder freelancers: de ideale opdrachtomschrijving">
            <a:extLst>
              <a:ext uri="{FF2B5EF4-FFF2-40B4-BE49-F238E27FC236}">
                <a16:creationId xmlns:a16="http://schemas.microsoft.com/office/drawing/2014/main" id="{C1338B25-0570-F468-5E90-B0CB56962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73" r="4263" b="1"/>
          <a:stretch>
            <a:fillRect/>
          </a:stretch>
        </p:blipFill>
        <p:spPr bwMode="auto">
          <a:xfrm>
            <a:off x="6191248" y="1825625"/>
            <a:ext cx="5162549" cy="4351338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0701948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D8759D-36E4-9197-B82F-258DA1B6CE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84874" y="383381"/>
            <a:ext cx="3822251" cy="6091237"/>
          </a:xfrm>
          <a:prstGeom prst="rect">
            <a:avLst/>
          </a:prstGeom>
          <a:noFill/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640955A-0404-0EF8-1039-584986F16D3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6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­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4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2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900000" indent="-180000" algn="l" defTabSz="514337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4427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596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765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33" indent="-128585" algn="l" defTabSz="514337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b="1" dirty="0">
                <a:solidFill>
                  <a:schemeClr val="tx2"/>
                </a:solidFill>
              </a:rPr>
              <a:t>BREAK - 15 minuten</a:t>
            </a:r>
          </a:p>
        </p:txBody>
      </p:sp>
    </p:spTree>
    <p:extLst>
      <p:ext uri="{BB962C8B-B14F-4D97-AF65-F5344CB8AC3E}">
        <p14:creationId xmlns:p14="http://schemas.microsoft.com/office/powerpoint/2010/main" val="4065640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0077F-41EA-3E27-F204-B031948CE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>
                <a:solidFill>
                  <a:srgbClr val="E50056"/>
                </a:solidFill>
              </a:rPr>
              <a:t>Foute opdrachtbevestiging - rollenspel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A53E1-688D-16A4-84D6-EABF8A440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sz="1800" dirty="0"/>
              <a:t>Vorm trio’s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800" dirty="0"/>
              <a:t>Student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800" dirty="0"/>
              <a:t>Opdrachtgever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800" dirty="0"/>
              <a:t>Observator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sz="1800" dirty="0"/>
          </a:p>
          <a:p>
            <a:r>
              <a:rPr lang="nl-NL" sz="1800" dirty="0"/>
              <a:t>Lees de mail die gestuurd is namens de projectgroep aan de opdrachtgever n.a.v. het intakegesprek.</a:t>
            </a:r>
          </a:p>
          <a:p>
            <a:r>
              <a:rPr lang="nl-NL" sz="1800" dirty="0"/>
              <a:t>Ga hier nog niet met elkaar over in gesprek!</a:t>
            </a:r>
          </a:p>
          <a:p>
            <a:endParaRPr lang="nl-NL" sz="1800" dirty="0"/>
          </a:p>
          <a:p>
            <a:r>
              <a:rPr lang="nl-NL" sz="1800" dirty="0"/>
              <a:t>Speel het rollenspel</a:t>
            </a:r>
          </a:p>
          <a:p>
            <a:r>
              <a:rPr lang="nl-NL" sz="1800" dirty="0"/>
              <a:t>“De opdrachtgever schiet alles af”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52178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0B63E-2763-F693-D32A-53EC5F9F4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>
                <a:solidFill>
                  <a:srgbClr val="E50056"/>
                </a:solidFill>
              </a:rPr>
              <a:t>Plenair nabespreken</a:t>
            </a:r>
            <a:endParaRPr lang="en-NL" b="1" dirty="0">
              <a:solidFill>
                <a:srgbClr val="E5005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BDE38-7E2E-F018-3C8E-79D2EF096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 sz="1800" dirty="0"/>
              <a:t>Observatoren…..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l-NL" sz="1800" dirty="0"/>
              <a:t>Welke informatie ontbreekt? </a:t>
            </a:r>
            <a:endParaRPr lang="en-NL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l-NL" sz="1800" dirty="0"/>
              <a:t>Waar worden aannames gedaan? </a:t>
            </a:r>
            <a:endParaRPr lang="en-NL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l-NL" sz="1800" dirty="0"/>
              <a:t>Wat klopt mogelijk niet met het gesprek?</a:t>
            </a:r>
            <a:endParaRPr lang="en-NL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l-NL" sz="1800" dirty="0"/>
              <a:t>Hoe zit het met de structuur van het document?</a:t>
            </a:r>
            <a:endParaRPr lang="en-NL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l-NL" sz="1800" dirty="0"/>
              <a:t>Is de toon passend richting een opdrachtgever?</a:t>
            </a:r>
            <a:endParaRPr lang="en-NL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l-NL" sz="1800" dirty="0"/>
              <a:t>Wat zal het effect zijn op een opdrachtgever als je dit zo verstuurd?</a:t>
            </a:r>
            <a:endParaRPr lang="en-NL" sz="1800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0581500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85949" y="704384"/>
            <a:ext cx="7886700" cy="580848"/>
          </a:xfrm>
        </p:spPr>
        <p:txBody>
          <a:bodyPr>
            <a:normAutofit fontScale="90000"/>
          </a:bodyPr>
          <a:lstStyle/>
          <a:p>
            <a:br>
              <a:rPr lang="nl-NL" dirty="0"/>
            </a:br>
            <a:br>
              <a:rPr lang="nl-NL" dirty="0"/>
            </a:br>
            <a:r>
              <a:rPr lang="nl-NL" sz="3600" b="1" dirty="0">
                <a:solidFill>
                  <a:srgbClr val="E50056"/>
                </a:solidFill>
              </a:rPr>
              <a:t>Opdrachtbevestiging</a:t>
            </a:r>
            <a:endParaRPr lang="en-US" sz="3600" b="1" dirty="0">
              <a:solidFill>
                <a:srgbClr val="E50056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8C2DDC-9B58-96AA-37F5-AF9D02956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48775"/>
            <a:ext cx="10515599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sz="2000" dirty="0"/>
              <a:t>Het intakegesprek heeft als doel om het probleem en de context te begrijpen, verwachtingen te verduidelijken en samen te bepalen wat een passende opdracht en vervolgstap is.</a:t>
            </a:r>
          </a:p>
          <a:p>
            <a:pPr lvl="0"/>
            <a:endParaRPr lang="nl-NL" sz="2000" dirty="0"/>
          </a:p>
          <a:p>
            <a:r>
              <a:rPr lang="nl-NL" sz="2000" dirty="0">
                <a:latin typeface="Arial"/>
                <a:cs typeface="Arial"/>
              </a:rPr>
              <a:t>Gebruik het document ‘</a:t>
            </a:r>
            <a:r>
              <a:rPr lang="nl-NL" sz="2000" b="1" dirty="0">
                <a:latin typeface="Arial"/>
                <a:cs typeface="Arial"/>
              </a:rPr>
              <a:t>intakegesprek I voorbereiding en format Goedkeuring </a:t>
            </a:r>
            <a:r>
              <a:rPr lang="nl-NL" sz="2000" b="1">
                <a:latin typeface="Arial"/>
                <a:cs typeface="Arial"/>
              </a:rPr>
              <a:t>projectopdracht’</a:t>
            </a:r>
            <a:endParaRPr lang="nl-NL" sz="2000">
              <a:latin typeface="Arial"/>
              <a:cs typeface="Arial"/>
            </a:endParaRPr>
          </a:p>
          <a:p>
            <a:pPr lvl="0"/>
            <a:endParaRPr lang="nl-NL" sz="2000" b="1" dirty="0"/>
          </a:p>
          <a:p>
            <a:pPr lvl="0"/>
            <a:r>
              <a:rPr lang="nl-NL" sz="2000" b="1" dirty="0"/>
              <a:t>Checkvragen na intake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nl-NL" sz="2000" dirty="0"/>
              <a:t>Heb ik het probleem echt scherp gekregen?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nl-NL" sz="2000" dirty="0"/>
              <a:t>Zijn de doelen en verwachtingen expliciet gemaakt?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nl-NL" sz="2000" dirty="0"/>
              <a:t>Hebben we duidelijke afspraken gemaakt en de opdracht afgebakend?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nl-NL" sz="2000" dirty="0"/>
              <a:t>Hebben we gebouwd aan de relatie en is er vertrouwen?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nl-NL" sz="2000" dirty="0"/>
              <a:t>Is er een duidelijke volgende stap afgesproken?</a:t>
            </a:r>
          </a:p>
          <a:p>
            <a:endParaRPr lang="nl-NL" sz="2000" dirty="0"/>
          </a:p>
        </p:txBody>
      </p:sp>
    </p:spTree>
    <p:extLst>
      <p:ext uri="{BB962C8B-B14F-4D97-AF65-F5344CB8AC3E}">
        <p14:creationId xmlns:p14="http://schemas.microsoft.com/office/powerpoint/2010/main" val="849367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4F581-A996-2111-30B5-84EC08F4F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b="1" dirty="0">
                <a:solidFill>
                  <a:srgbClr val="E50056"/>
                </a:solidFill>
                <a:latin typeface="Avenir Next Condensed Medium"/>
                <a:cs typeface="Arial"/>
              </a:rPr>
              <a:t>Goedkeuring</a:t>
            </a:r>
            <a:r>
              <a:rPr lang="nl-NL" b="1" dirty="0">
                <a:latin typeface="Avenir Next Condensed Medium"/>
                <a:cs typeface="Arial"/>
              </a:rPr>
              <a:t> praktijkopdracht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1A58AB-B376-B143-8E19-6092E2A25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err="1">
                <a:latin typeface="Arial"/>
                <a:cs typeface="Arial"/>
              </a:rPr>
              <a:t>Waar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moet</a:t>
            </a:r>
            <a:r>
              <a:rPr lang="en-US" b="1" dirty="0">
                <a:latin typeface="Arial"/>
                <a:cs typeface="Arial"/>
              </a:rPr>
              <a:t> de </a:t>
            </a:r>
            <a:r>
              <a:rPr lang="en-US" b="1" dirty="0" err="1">
                <a:latin typeface="Arial"/>
                <a:cs typeface="Arial"/>
              </a:rPr>
              <a:t>opdracht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aan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voldoen</a:t>
            </a:r>
            <a:r>
              <a:rPr lang="en-US" b="1" dirty="0">
                <a:latin typeface="Arial"/>
                <a:cs typeface="Arial"/>
              </a:rPr>
              <a:t>?</a:t>
            </a:r>
            <a:endParaRPr lang="en-US" b="1" dirty="0"/>
          </a:p>
          <a:p>
            <a:pPr marL="0" indent="0">
              <a:buNone/>
            </a:pPr>
            <a:r>
              <a:rPr lang="en-US" dirty="0">
                <a:latin typeface="Arial"/>
                <a:cs typeface="Arial"/>
              </a:rPr>
              <a:t>Je </a:t>
            </a:r>
            <a:r>
              <a:rPr lang="en-US" dirty="0" err="1">
                <a:latin typeface="Arial"/>
                <a:cs typeface="Arial"/>
              </a:rPr>
              <a:t>ontwerpt</a:t>
            </a:r>
            <a:r>
              <a:rPr lang="en-US" dirty="0">
                <a:latin typeface="Arial"/>
                <a:cs typeface="Arial"/>
              </a:rPr>
              <a:t> op basis van </a:t>
            </a:r>
            <a:r>
              <a:rPr lang="en-US" dirty="0" err="1">
                <a:latin typeface="Arial"/>
                <a:cs typeface="Arial"/>
              </a:rPr>
              <a:t>een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analyse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een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voorstel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voor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een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verbetering</a:t>
            </a:r>
            <a:r>
              <a:rPr lang="en-US" dirty="0">
                <a:latin typeface="Arial"/>
                <a:cs typeface="Arial"/>
              </a:rPr>
              <a:t> van </a:t>
            </a:r>
            <a:r>
              <a:rPr lang="en-US" dirty="0" err="1">
                <a:latin typeface="Arial"/>
                <a:cs typeface="Arial"/>
              </a:rPr>
              <a:t>een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eenvoudig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proces</a:t>
            </a:r>
            <a:r>
              <a:rPr lang="en-US" dirty="0">
                <a:latin typeface="Arial"/>
                <a:cs typeface="Arial"/>
              </a:rPr>
              <a:t> of </a:t>
            </a:r>
            <a:r>
              <a:rPr lang="en-US" dirty="0" err="1">
                <a:latin typeface="Arial"/>
                <a:cs typeface="Arial"/>
              </a:rPr>
              <a:t>eenvoudig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organisatievraagstuk</a:t>
            </a:r>
            <a:r>
              <a:rPr lang="en-US" dirty="0">
                <a:latin typeface="Arial"/>
                <a:cs typeface="Arial"/>
              </a:rPr>
              <a:t>, </a:t>
            </a:r>
            <a:r>
              <a:rPr lang="en-US" dirty="0" err="1">
                <a:latin typeface="Arial"/>
                <a:cs typeface="Arial"/>
              </a:rPr>
              <a:t>waarmee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een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concreet</a:t>
            </a:r>
            <a:r>
              <a:rPr lang="en-US" dirty="0">
                <a:latin typeface="Arial"/>
                <a:cs typeface="Arial"/>
              </a:rPr>
              <a:t> en urgent </a:t>
            </a:r>
            <a:r>
              <a:rPr lang="en-US" dirty="0" err="1">
                <a:latin typeface="Arial"/>
                <a:cs typeface="Arial"/>
              </a:rPr>
              <a:t>probleem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binnen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een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organisatie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wordt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opgelost</a:t>
            </a:r>
            <a:r>
              <a:rPr lang="en-US" dirty="0">
                <a:latin typeface="Arial"/>
                <a:cs typeface="Arial"/>
              </a:rPr>
              <a:t>. De </a:t>
            </a:r>
            <a:r>
              <a:rPr lang="en-US" dirty="0" err="1">
                <a:latin typeface="Arial"/>
                <a:cs typeface="Arial"/>
              </a:rPr>
              <a:t>verbetering</a:t>
            </a:r>
            <a:r>
              <a:rPr lang="en-US" dirty="0">
                <a:latin typeface="Arial"/>
                <a:cs typeface="Arial"/>
              </a:rPr>
              <a:t> past </a:t>
            </a:r>
            <a:r>
              <a:rPr lang="en-US" dirty="0" err="1">
                <a:latin typeface="Arial"/>
                <a:cs typeface="Arial"/>
              </a:rPr>
              <a:t>bij</a:t>
            </a:r>
            <a:r>
              <a:rPr lang="en-US" dirty="0">
                <a:latin typeface="Arial"/>
                <a:cs typeface="Arial"/>
              </a:rPr>
              <a:t> de </a:t>
            </a:r>
            <a:r>
              <a:rPr lang="en-US" dirty="0" err="1">
                <a:latin typeface="Arial"/>
                <a:cs typeface="Arial"/>
              </a:rPr>
              <a:t>doelen</a:t>
            </a:r>
            <a:r>
              <a:rPr lang="en-US" dirty="0">
                <a:latin typeface="Arial"/>
                <a:cs typeface="Arial"/>
              </a:rPr>
              <a:t> en </a:t>
            </a:r>
            <a:r>
              <a:rPr lang="en-US" dirty="0" err="1">
                <a:latin typeface="Arial"/>
                <a:cs typeface="Arial"/>
              </a:rPr>
              <a:t>strategie</a:t>
            </a:r>
            <a:r>
              <a:rPr lang="en-US" dirty="0">
                <a:latin typeface="Arial"/>
                <a:cs typeface="Arial"/>
              </a:rPr>
              <a:t> van de </a:t>
            </a:r>
            <a:r>
              <a:rPr lang="en-US" dirty="0" err="1">
                <a:latin typeface="Arial"/>
                <a:cs typeface="Arial"/>
              </a:rPr>
              <a:t>organisatie</a:t>
            </a:r>
            <a:r>
              <a:rPr lang="en-US" dirty="0">
                <a:latin typeface="Arial"/>
                <a:cs typeface="Arial"/>
              </a:rPr>
              <a:t>. </a:t>
            </a:r>
            <a:endParaRPr lang="en-US" dirty="0"/>
          </a:p>
          <a:p>
            <a:pPr marL="0" indent="0">
              <a:buNone/>
            </a:pPr>
            <a:endParaRPr lang="en-US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dirty="0">
                <a:latin typeface="Arial"/>
                <a:cs typeface="Arial"/>
              </a:rPr>
              <a:t>De </a:t>
            </a:r>
            <a:r>
              <a:rPr lang="en-US" dirty="0" err="1">
                <a:latin typeface="Arial"/>
                <a:cs typeface="Arial"/>
              </a:rPr>
              <a:t>verbeteringen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zijn</a:t>
            </a:r>
            <a:r>
              <a:rPr lang="en-US" dirty="0">
                <a:latin typeface="Arial"/>
                <a:cs typeface="Arial"/>
              </a:rPr>
              <a:t> van </a:t>
            </a:r>
            <a:r>
              <a:rPr lang="en-US" dirty="0" err="1">
                <a:latin typeface="Arial"/>
                <a:cs typeface="Arial"/>
              </a:rPr>
              <a:t>tactisch</a:t>
            </a:r>
            <a:r>
              <a:rPr lang="en-US" dirty="0">
                <a:latin typeface="Arial"/>
                <a:cs typeface="Arial"/>
              </a:rPr>
              <a:t>/</a:t>
            </a:r>
            <a:r>
              <a:rPr lang="en-US" dirty="0" err="1">
                <a:latin typeface="Arial"/>
                <a:cs typeface="Arial"/>
              </a:rPr>
              <a:t>operationeel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niveau</a:t>
            </a:r>
            <a:r>
              <a:rPr lang="en-US" dirty="0">
                <a:latin typeface="Arial"/>
                <a:cs typeface="Arial"/>
              </a:rPr>
              <a:t> en </a:t>
            </a:r>
            <a:r>
              <a:rPr lang="en-US" dirty="0" err="1">
                <a:latin typeface="Arial"/>
                <a:cs typeface="Arial"/>
              </a:rPr>
              <a:t>kunnen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meerdere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waarden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betreffen</a:t>
            </a:r>
            <a:r>
              <a:rPr lang="en-US" dirty="0">
                <a:latin typeface="Arial"/>
                <a:cs typeface="Arial"/>
              </a:rPr>
              <a:t>. Een </a:t>
            </a:r>
            <a:r>
              <a:rPr lang="en-US" dirty="0" err="1">
                <a:latin typeface="Arial"/>
                <a:cs typeface="Arial"/>
              </a:rPr>
              <a:t>concreet</a:t>
            </a:r>
            <a:r>
              <a:rPr lang="en-US" dirty="0">
                <a:latin typeface="Arial"/>
                <a:cs typeface="Arial"/>
              </a:rPr>
              <a:t> en urgent </a:t>
            </a:r>
            <a:r>
              <a:rPr lang="en-US" dirty="0" err="1">
                <a:latin typeface="Arial"/>
                <a:cs typeface="Arial"/>
              </a:rPr>
              <a:t>probleem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dat</a:t>
            </a:r>
            <a:r>
              <a:rPr lang="en-US" dirty="0">
                <a:latin typeface="Arial"/>
                <a:cs typeface="Arial"/>
              </a:rPr>
              <a:t> direct te </a:t>
            </a:r>
            <a:r>
              <a:rPr lang="en-US" dirty="0" err="1">
                <a:latin typeface="Arial"/>
                <a:cs typeface="Arial"/>
              </a:rPr>
              <a:t>relateren</a:t>
            </a:r>
            <a:r>
              <a:rPr lang="en-US" dirty="0">
                <a:latin typeface="Arial"/>
                <a:cs typeface="Arial"/>
              </a:rPr>
              <a:t> is aan </a:t>
            </a:r>
            <a:r>
              <a:rPr lang="en-US" dirty="0" err="1">
                <a:latin typeface="Arial"/>
                <a:cs typeface="Arial"/>
              </a:rPr>
              <a:t>kwaliteit</a:t>
            </a:r>
            <a:r>
              <a:rPr lang="en-US" dirty="0">
                <a:latin typeface="Arial"/>
                <a:cs typeface="Arial"/>
              </a:rPr>
              <a:t> (Q), </a:t>
            </a:r>
            <a:r>
              <a:rPr lang="en-US" dirty="0" err="1">
                <a:latin typeface="Arial"/>
                <a:cs typeface="Arial"/>
              </a:rPr>
              <a:t>leverbetrouwbaarheid</a:t>
            </a:r>
            <a:r>
              <a:rPr lang="en-US" dirty="0">
                <a:latin typeface="Arial"/>
                <a:cs typeface="Arial"/>
              </a:rPr>
              <a:t> (D) en/of </a:t>
            </a:r>
            <a:r>
              <a:rPr lang="en-US" dirty="0" err="1">
                <a:latin typeface="Arial"/>
                <a:cs typeface="Arial"/>
              </a:rPr>
              <a:t>kosten</a:t>
            </a:r>
            <a:r>
              <a:rPr lang="en-US" dirty="0">
                <a:latin typeface="Arial"/>
                <a:cs typeface="Arial"/>
              </a:rPr>
              <a:t>(C) </a:t>
            </a:r>
            <a:r>
              <a:rPr lang="en-US" dirty="0" err="1">
                <a:latin typeface="Arial"/>
                <a:cs typeface="Arial"/>
              </a:rPr>
              <a:t>levert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vaak</a:t>
            </a:r>
            <a:r>
              <a:rPr lang="en-US" dirty="0">
                <a:latin typeface="Arial"/>
                <a:cs typeface="Arial"/>
              </a:rPr>
              <a:t> het </a:t>
            </a:r>
            <a:r>
              <a:rPr lang="en-US" dirty="0" err="1">
                <a:latin typeface="Arial"/>
                <a:cs typeface="Arial"/>
              </a:rPr>
              <a:t>beste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resultaat</a:t>
            </a:r>
            <a:r>
              <a:rPr lang="en-US" dirty="0">
                <a:latin typeface="Arial"/>
                <a:cs typeface="Arial"/>
              </a:rPr>
              <a:t>.</a:t>
            </a:r>
            <a:endParaRPr lang="en-US" dirty="0"/>
          </a:p>
          <a:p>
            <a:pPr marL="0" indent="0">
              <a:buNone/>
            </a:pPr>
            <a:endParaRPr lang="en-US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dirty="0">
                <a:latin typeface="Arial"/>
                <a:cs typeface="Arial"/>
              </a:rPr>
              <a:t>De </a:t>
            </a:r>
            <a:r>
              <a:rPr lang="en-US" dirty="0" err="1">
                <a:latin typeface="Arial"/>
                <a:cs typeface="Arial"/>
              </a:rPr>
              <a:t>activiteit</a:t>
            </a:r>
            <a:r>
              <a:rPr lang="en-US" dirty="0">
                <a:latin typeface="Arial"/>
                <a:cs typeface="Arial"/>
              </a:rPr>
              <a:t> of </a:t>
            </a:r>
            <a:r>
              <a:rPr lang="en-US" dirty="0" err="1">
                <a:latin typeface="Arial"/>
                <a:cs typeface="Arial"/>
              </a:rPr>
              <a:t>proces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waarop</a:t>
            </a:r>
            <a:r>
              <a:rPr lang="en-US" dirty="0">
                <a:latin typeface="Arial"/>
                <a:cs typeface="Arial"/>
              </a:rPr>
              <a:t> het project </a:t>
            </a:r>
            <a:r>
              <a:rPr lang="en-US" dirty="0" err="1">
                <a:latin typeface="Arial"/>
                <a:cs typeface="Arial"/>
              </a:rPr>
              <a:t>betrekking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heeft</a:t>
            </a:r>
            <a:r>
              <a:rPr lang="en-US" dirty="0">
                <a:latin typeface="Arial"/>
                <a:cs typeface="Arial"/>
              </a:rPr>
              <a:t>, </a:t>
            </a:r>
            <a:r>
              <a:rPr lang="en-US" dirty="0" err="1">
                <a:latin typeface="Arial"/>
                <a:cs typeface="Arial"/>
              </a:rPr>
              <a:t>heeft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bij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voorkeur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een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repeterend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karakter</a:t>
            </a:r>
            <a:r>
              <a:rPr lang="en-US" dirty="0">
                <a:latin typeface="Arial"/>
                <a:cs typeface="Arial"/>
              </a:rPr>
              <a:t> en </a:t>
            </a:r>
            <a:r>
              <a:rPr lang="en-US" dirty="0" err="1">
                <a:latin typeface="Arial"/>
                <a:cs typeface="Arial"/>
              </a:rPr>
              <a:t>vindt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plaats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gedurende</a:t>
            </a:r>
            <a:r>
              <a:rPr lang="en-US" dirty="0">
                <a:latin typeface="Arial"/>
                <a:cs typeface="Arial"/>
              </a:rPr>
              <a:t> de </a:t>
            </a:r>
            <a:r>
              <a:rPr lang="en-US" dirty="0" err="1">
                <a:latin typeface="Arial"/>
                <a:cs typeface="Arial"/>
              </a:rPr>
              <a:t>looptijd</a:t>
            </a:r>
            <a:r>
              <a:rPr lang="en-US" dirty="0">
                <a:latin typeface="Arial"/>
                <a:cs typeface="Arial"/>
              </a:rPr>
              <a:t> van het project. Het </a:t>
            </a:r>
            <a:r>
              <a:rPr lang="en-US" dirty="0" err="1">
                <a:latin typeface="Arial"/>
                <a:cs typeface="Arial"/>
              </a:rPr>
              <a:t>vindt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bij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voorkeur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elke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dag</a:t>
            </a:r>
            <a:r>
              <a:rPr lang="en-US" dirty="0">
                <a:latin typeface="Arial"/>
                <a:cs typeface="Arial"/>
              </a:rPr>
              <a:t> of week </a:t>
            </a:r>
            <a:r>
              <a:rPr lang="en-US" dirty="0" err="1">
                <a:latin typeface="Arial"/>
                <a:cs typeface="Arial"/>
              </a:rPr>
              <a:t>plaats.Dan</a:t>
            </a:r>
            <a:r>
              <a:rPr lang="en-US" dirty="0">
                <a:latin typeface="Arial"/>
                <a:cs typeface="Arial"/>
              </a:rPr>
              <a:t> is er </a:t>
            </a:r>
            <a:r>
              <a:rPr lang="en-US" dirty="0" err="1">
                <a:latin typeface="Arial"/>
                <a:cs typeface="Arial"/>
              </a:rPr>
              <a:t>voldoende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gelegenheid</a:t>
            </a:r>
            <a:r>
              <a:rPr lang="en-US" dirty="0">
                <a:latin typeface="Arial"/>
                <a:cs typeface="Arial"/>
              </a:rPr>
              <a:t> om </a:t>
            </a:r>
            <a:r>
              <a:rPr lang="en-US" dirty="0" err="1">
                <a:latin typeface="Arial"/>
                <a:cs typeface="Arial"/>
              </a:rPr>
              <a:t>metingen</a:t>
            </a:r>
            <a:r>
              <a:rPr lang="en-US" dirty="0">
                <a:latin typeface="Arial"/>
                <a:cs typeface="Arial"/>
              </a:rPr>
              <a:t> te </a:t>
            </a:r>
            <a:r>
              <a:rPr lang="en-US" dirty="0" err="1">
                <a:latin typeface="Arial"/>
                <a:cs typeface="Arial"/>
              </a:rPr>
              <a:t>doen</a:t>
            </a:r>
            <a:r>
              <a:rPr lang="en-US" dirty="0">
                <a:latin typeface="Arial"/>
                <a:cs typeface="Arial"/>
              </a:rPr>
              <a:t> in de </a:t>
            </a:r>
            <a:r>
              <a:rPr lang="en-US" dirty="0" err="1">
                <a:latin typeface="Arial"/>
                <a:cs typeface="Arial"/>
              </a:rPr>
              <a:t>analyse</a:t>
            </a:r>
            <a:r>
              <a:rPr lang="en-US" dirty="0">
                <a:latin typeface="Arial"/>
                <a:cs typeface="Arial"/>
              </a:rPr>
              <a:t>, te </a:t>
            </a:r>
            <a:r>
              <a:rPr lang="en-US" dirty="0" err="1">
                <a:latin typeface="Arial"/>
                <a:cs typeface="Arial"/>
              </a:rPr>
              <a:t>experimenteren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mettegenmaatregelen</a:t>
            </a:r>
            <a:r>
              <a:rPr lang="en-US" dirty="0">
                <a:latin typeface="Arial"/>
                <a:cs typeface="Arial"/>
              </a:rPr>
              <a:t> en </a:t>
            </a:r>
            <a:r>
              <a:rPr lang="en-US" dirty="0" err="1">
                <a:latin typeface="Arial"/>
                <a:cs typeface="Arial"/>
              </a:rPr>
              <a:t>deze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waar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mogelijk</a:t>
            </a:r>
            <a:r>
              <a:rPr lang="en-US" dirty="0">
                <a:latin typeface="Arial"/>
                <a:cs typeface="Arial"/>
              </a:rPr>
              <a:t> te </a:t>
            </a:r>
            <a:r>
              <a:rPr lang="en-US" dirty="0" err="1">
                <a:latin typeface="Arial"/>
                <a:cs typeface="Arial"/>
              </a:rPr>
              <a:t>implementeren</a:t>
            </a:r>
            <a:r>
              <a:rPr lang="en-US" dirty="0">
                <a:latin typeface="Arial"/>
                <a:cs typeface="Arial"/>
              </a:rPr>
              <a:t>. </a:t>
            </a:r>
            <a:endParaRPr lang="en-US" dirty="0"/>
          </a:p>
          <a:p>
            <a:pPr marL="0" indent="0">
              <a:buNone/>
            </a:pPr>
            <a:endParaRPr lang="en-US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b="1" dirty="0" err="1">
                <a:latin typeface="Arial"/>
                <a:cs typeface="Arial"/>
              </a:rPr>
              <a:t>Goedkeuring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praktijkopdracht</a:t>
            </a:r>
            <a:r>
              <a:rPr lang="en-US" b="1" dirty="0">
                <a:latin typeface="Arial"/>
                <a:cs typeface="Arial"/>
              </a:rPr>
              <a:t> door tutor </a:t>
            </a:r>
            <a:r>
              <a:rPr lang="en-US" b="1" dirty="0" err="1">
                <a:latin typeface="Arial"/>
                <a:cs typeface="Arial"/>
              </a:rPr>
              <a:t>noodzakelijk</a:t>
            </a:r>
            <a:r>
              <a:rPr lang="en-US" b="1" dirty="0">
                <a:latin typeface="Arial"/>
                <a:cs typeface="Arial"/>
              </a:rPr>
              <a:t>!</a:t>
            </a:r>
          </a:p>
          <a:p>
            <a:pPr marL="0" indent="0">
              <a:buNone/>
            </a:pPr>
            <a:r>
              <a:rPr lang="en-US" dirty="0" err="1">
                <a:latin typeface="Arial"/>
                <a:cs typeface="Arial"/>
              </a:rPr>
              <a:t>Zodra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jullie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een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opdracht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hebben</a:t>
            </a:r>
            <a:r>
              <a:rPr lang="en-US" dirty="0">
                <a:latin typeface="Arial"/>
                <a:cs typeface="Arial"/>
              </a:rPr>
              <a:t>, </a:t>
            </a:r>
            <a:r>
              <a:rPr lang="en-US" dirty="0" err="1">
                <a:latin typeface="Arial"/>
                <a:cs typeface="Arial"/>
              </a:rPr>
              <a:t>vul</a:t>
            </a:r>
            <a:r>
              <a:rPr lang="en-US" dirty="0">
                <a:latin typeface="Arial"/>
                <a:cs typeface="Arial"/>
              </a:rPr>
              <a:t> het format '</a:t>
            </a:r>
            <a:r>
              <a:rPr lang="en-US" b="1" dirty="0" err="1">
                <a:solidFill>
                  <a:srgbClr val="FF0066"/>
                </a:solidFill>
                <a:latin typeface="Arial"/>
                <a:cs typeface="Arial"/>
              </a:rPr>
              <a:t>goedkeuring</a:t>
            </a:r>
            <a:r>
              <a:rPr lang="en-US" b="1" dirty="0">
                <a:solidFill>
                  <a:srgbClr val="FF0066"/>
                </a:solidFill>
                <a:latin typeface="Arial"/>
                <a:cs typeface="Arial"/>
              </a:rPr>
              <a:t> </a:t>
            </a:r>
            <a:r>
              <a:rPr lang="en-US" b="1" dirty="0" err="1">
                <a:solidFill>
                  <a:srgbClr val="FF0066"/>
                </a:solidFill>
                <a:latin typeface="Arial"/>
                <a:cs typeface="Arial"/>
              </a:rPr>
              <a:t>praktijkopdracht</a:t>
            </a:r>
            <a:r>
              <a:rPr lang="en-US" dirty="0">
                <a:latin typeface="Arial"/>
                <a:cs typeface="Arial"/>
              </a:rPr>
              <a:t>' in en leg dit </a:t>
            </a:r>
            <a:r>
              <a:rPr lang="en-US" dirty="0" err="1">
                <a:latin typeface="Arial"/>
                <a:cs typeface="Arial"/>
              </a:rPr>
              <a:t>z.s.m</a:t>
            </a:r>
            <a:r>
              <a:rPr lang="en-US" dirty="0">
                <a:latin typeface="Arial"/>
                <a:cs typeface="Arial"/>
              </a:rPr>
              <a:t>. </a:t>
            </a:r>
            <a:r>
              <a:rPr lang="en-US" dirty="0" err="1">
                <a:latin typeface="Arial"/>
                <a:cs typeface="Arial"/>
              </a:rPr>
              <a:t>voor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aan</a:t>
            </a:r>
            <a:r>
              <a:rPr lang="en-US" dirty="0">
                <a:latin typeface="Arial"/>
                <a:cs typeface="Arial"/>
              </a:rPr>
              <a:t> de </a:t>
            </a:r>
            <a:r>
              <a:rPr lang="en-US" dirty="0" err="1">
                <a:latin typeface="Arial"/>
                <a:cs typeface="Arial"/>
              </a:rPr>
              <a:t>tutoren</a:t>
            </a:r>
            <a:r>
              <a:rPr lang="en-US" dirty="0">
                <a:latin typeface="Arial"/>
                <a:cs typeface="Arial"/>
              </a:rPr>
              <a:t> ter </a:t>
            </a:r>
            <a:r>
              <a:rPr lang="en-US" dirty="0" err="1">
                <a:latin typeface="Arial"/>
                <a:cs typeface="Arial"/>
              </a:rPr>
              <a:t>beoordeling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en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goedkeuring</a:t>
            </a:r>
            <a:r>
              <a:rPr lang="en-US" dirty="0">
                <a:latin typeface="Arial"/>
                <a:cs typeface="Arial"/>
              </a:rPr>
              <a:t>! In week 5 </a:t>
            </a:r>
            <a:r>
              <a:rPr lang="en-US" dirty="0" err="1">
                <a:latin typeface="Arial"/>
                <a:cs typeface="Arial"/>
              </a:rPr>
              <a:t>gaan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jullie</a:t>
            </a:r>
            <a:r>
              <a:rPr lang="en-US" dirty="0">
                <a:latin typeface="Arial"/>
                <a:cs typeface="Arial"/>
              </a:rPr>
              <a:t> al </a:t>
            </a:r>
            <a:r>
              <a:rPr lang="en-US" dirty="0" err="1">
                <a:latin typeface="Arial"/>
                <a:cs typeface="Arial"/>
              </a:rPr>
              <a:t>aan</a:t>
            </a:r>
            <a:r>
              <a:rPr lang="en-US" dirty="0">
                <a:latin typeface="Arial"/>
                <a:cs typeface="Arial"/>
              </a:rPr>
              <a:t> de slag met de </a:t>
            </a:r>
            <a:r>
              <a:rPr lang="en-US" dirty="0" err="1">
                <a:latin typeface="Arial"/>
                <a:cs typeface="Arial"/>
              </a:rPr>
              <a:t>opdracht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bij</a:t>
            </a:r>
            <a:r>
              <a:rPr lang="en-US" dirty="0">
                <a:latin typeface="Arial"/>
                <a:cs typeface="Arial"/>
              </a:rPr>
              <a:t> de </a:t>
            </a:r>
            <a:r>
              <a:rPr lang="en-US" dirty="0" err="1">
                <a:latin typeface="Arial"/>
                <a:cs typeface="Arial"/>
              </a:rPr>
              <a:t>praktijkorganisatie</a:t>
            </a:r>
            <a:r>
              <a:rPr lang="en-US" dirty="0">
                <a:latin typeface="Arial"/>
                <a:cs typeface="Arial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1312063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3709E-067B-B511-D585-3087BFA0C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ctr">
            <a:normAutofit/>
          </a:bodyPr>
          <a:lstStyle/>
          <a:p>
            <a:r>
              <a:rPr lang="nl-NL" dirty="0"/>
              <a:t>Check-out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80306-ADA2-3F36-26F0-C5A27ACC6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62550" cy="43513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Wat is mijn belangrijkste take </a:t>
            </a:r>
            <a:r>
              <a:rPr lang="nl-NL" dirty="0" err="1"/>
              <a:t>away</a:t>
            </a:r>
            <a:r>
              <a:rPr lang="nl-NL" dirty="0"/>
              <a:t> van vandaag?</a:t>
            </a:r>
            <a:endParaRPr lang="nl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1BE4FC-1BC1-9440-942A-37B69B9A76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43" r="-3" b="5897"/>
          <a:stretch>
            <a:fillRect/>
          </a:stretch>
        </p:blipFill>
        <p:spPr>
          <a:xfrm>
            <a:off x="6191250" y="1825625"/>
            <a:ext cx="516255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59272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"/>
</p:tagLst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1" id="{9A0F4723-2A4E-4E88-8E0D-0EC200AC7DEC}" vid="{C90B4BE0-A579-4F4D-AF8D-C22BA43D1002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7DF7D878D2474AA1ADA9DB9F27B596" ma:contentTypeVersion="12" ma:contentTypeDescription="Een nieuw document maken." ma:contentTypeScope="" ma:versionID="b9bc60e8765cb5ca207d06c0e8d0453e">
  <xsd:schema xmlns:xsd="http://www.w3.org/2001/XMLSchema" xmlns:xs="http://www.w3.org/2001/XMLSchema" xmlns:p="http://schemas.microsoft.com/office/2006/metadata/properties" xmlns:ns2="32f0015f-a236-4fd8-95b0-4b3eaeb1520c" xmlns:ns3="ade2508e-5509-4838-8d52-f0d2f39d2206" targetNamespace="http://schemas.microsoft.com/office/2006/metadata/properties" ma:root="true" ma:fieldsID="805a0b3f9e8af8b9d5df6861505b55ee" ns2:_="" ns3:_="">
    <xsd:import namespace="32f0015f-a236-4fd8-95b0-4b3eaeb1520c"/>
    <xsd:import namespace="ade2508e-5509-4838-8d52-f0d2f39d220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f0015f-a236-4fd8-95b0-4b3eaeb152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Afbeeldingtags" ma:readOnly="false" ma:fieldId="{5cf76f15-5ced-4ddc-b409-7134ff3c332f}" ma:taxonomyMulti="true" ma:sspId="f6aa0a0a-ab1b-4084-9454-0fab047259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e2508e-5509-4838-8d52-f0d2f39d220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5874aee-d7b4-4952-a878-a6753189b9b4}" ma:internalName="TaxCatchAll" ma:showField="CatchAllData" ma:web="ade2508e-5509-4838-8d52-f0d2f39d220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2f0015f-a236-4fd8-95b0-4b3eaeb1520c">
      <Terms xmlns="http://schemas.microsoft.com/office/infopath/2007/PartnerControls"/>
    </lcf76f155ced4ddcb4097134ff3c332f>
    <TaxCatchAll xmlns="ade2508e-5509-4838-8d52-f0d2f39d220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0C804DB-4F5F-4407-9168-8E9F736B32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f0015f-a236-4fd8-95b0-4b3eaeb1520c"/>
    <ds:schemaRef ds:uri="ade2508e-5509-4838-8d52-f0d2f39d220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F7ED767-0475-4713-8F2C-E2546B3C4B05}">
  <ds:schemaRefs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dcmitype/"/>
    <ds:schemaRef ds:uri="ade2508e-5509-4838-8d52-f0d2f39d2206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32f0015f-a236-4fd8-95b0-4b3eaeb1520c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67389E9-A19A-454E-B1F5-B448A4A2AA3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1506</Words>
  <Application>Microsoft Office PowerPoint</Application>
  <PresentationFormat>Widescreen</PresentationFormat>
  <Paragraphs>196</Paragraphs>
  <Slides>27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Avenir Next Condensed</vt:lpstr>
      <vt:lpstr>Avenir Next Condensed Medium</vt:lpstr>
      <vt:lpstr>Calibri</vt:lpstr>
      <vt:lpstr>Segoe UI</vt:lpstr>
      <vt:lpstr>Wingdings</vt:lpstr>
      <vt:lpstr>Kantoorthema</vt:lpstr>
      <vt:lpstr>PowerPoint Presentation</vt:lpstr>
      <vt:lpstr>Doelen workshop </vt:lpstr>
      <vt:lpstr>Wie heeft de intake al gevoerd?</vt:lpstr>
      <vt:lpstr>Wat is een intakegesprek volgens jullie?</vt:lpstr>
      <vt:lpstr>PowerPoint Presentation</vt:lpstr>
      <vt:lpstr>Wat levert een intake op?</vt:lpstr>
      <vt:lpstr>Je krijgt geen 2e kans om een eerste indruk te maken</vt:lpstr>
      <vt:lpstr> Dus voorbereiden op …</vt:lpstr>
      <vt:lpstr>Verloop van het gesprek</vt:lpstr>
      <vt:lpstr>PowerPoint Presentation</vt:lpstr>
      <vt:lpstr>Goede of slechte vragen?</vt:lpstr>
      <vt:lpstr>Goede of slechte vragen?</vt:lpstr>
      <vt:lpstr>Goede of slechte vragen?</vt:lpstr>
      <vt:lpstr>Goede of slechte vragen?</vt:lpstr>
      <vt:lpstr>Goede of slechte vragen?</vt:lpstr>
      <vt:lpstr>Bedenk een slechte vraag</vt:lpstr>
      <vt:lpstr>Vragenspel</vt:lpstr>
      <vt:lpstr>PowerPoint Presentation</vt:lpstr>
      <vt:lpstr>Het voeren van een intakegesprek met opdrachtgever</vt:lpstr>
      <vt:lpstr>Van gesprek naar opdrachtbevestiging</vt:lpstr>
      <vt:lpstr>Wat moet er in een opdrachtbeschrijving?</vt:lpstr>
      <vt:lpstr>PowerPoint Presentation</vt:lpstr>
      <vt:lpstr>Foute opdrachtbevestiging - rollenspel</vt:lpstr>
      <vt:lpstr>Plenair nabespreken</vt:lpstr>
      <vt:lpstr>  Opdrachtbevestiging</vt:lpstr>
      <vt:lpstr>Goedkeuring praktijkopdracht</vt:lpstr>
      <vt:lpstr>Check-out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Bruil Joyce</dc:creator>
  <cp:lastModifiedBy>Joyce Bruil</cp:lastModifiedBy>
  <cp:revision>99</cp:revision>
  <dcterms:created xsi:type="dcterms:W3CDTF">2020-08-26T09:32:13Z</dcterms:created>
  <dcterms:modified xsi:type="dcterms:W3CDTF">2026-09-21T09:50:40Z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0x010100157DF7D878D2474AA1ADA9DB9F27B596</vt:lpwstr>
  </property>
  <property fmtid="{D5CDD505-2E9C-101B-9397-08002B2CF9AE}" pid="3" name="MediaServiceImageTags">
    <vt:lpwstr/>
  </property>
</Properties>
</file>